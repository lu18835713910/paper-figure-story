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cov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_lowerband"/>
          <p:cNvSpPr/>
          <p:nvPr/>
        </p:nvSpPr>
        <p:spPr>
          <a:xfrm>
            <a:off x="0" y="6062472"/>
            <a:ext cx="12191695" cy="795528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_accentline"/>
          <p:cNvSpPr/>
          <p:nvPr/>
        </p:nvSpPr>
        <p:spPr>
          <a:xfrm>
            <a:off x="914400" y="1444752"/>
            <a:ext cx="128016" cy="3337560"/>
          </a:xfrm>
          <a:prstGeom prst="rect">
            <a:avLst/>
          </a:prstGeom>
          <a:solidFill>
            <a:srgbClr val="337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_cornerline"/>
          <p:cNvSpPr/>
          <p:nvPr/>
        </p:nvSpPr>
        <p:spPr>
          <a:xfrm>
            <a:off x="9966960" y="804672"/>
            <a:ext cx="1243584" cy="64008"/>
          </a:xfrm>
          <a:prstGeom prst="rect">
            <a:avLst/>
          </a:prstGeom>
          <a:solidFill>
            <a:srgbClr val="337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FS_SECTION"/>
          <p:cNvSpPr txBox="1"/>
          <p:nvPr/>
        </p:nvSpPr>
        <p:spPr>
          <a:xfrm>
            <a:off x="1115568" y="1051560"/>
            <a:ext cx="9875520" cy="34747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400" b="1">
                <a:solidFill>
                  <a:srgbClr val="3372C5"/>
                </a:solidFill>
                <a:latin typeface="Microsoft YaHei"/>
              </a:rPr>
              <a:t>RESEARCH PRESENTATION</a:t>
            </a:r>
          </a:p>
        </p:txBody>
      </p:sp>
      <p:sp>
        <p:nvSpPr>
          <p:cNvPr id="7" name="PFS_TITLE"/>
          <p:cNvSpPr txBox="1"/>
          <p:nvPr/>
        </p:nvSpPr>
        <p:spPr>
          <a:xfrm>
            <a:off x="1115568" y="1755648"/>
            <a:ext cx="9738360" cy="16002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Microsoft YaHei"/>
              </a:rPr>
              <a:t>论文科研逻辑研究报告</a:t>
            </a:r>
          </a:p>
        </p:txBody>
      </p:sp>
      <p:sp>
        <p:nvSpPr>
          <p:cNvPr id="8" name="PFS_SUBTITLE"/>
          <p:cNvSpPr txBox="1"/>
          <p:nvPr/>
        </p:nvSpPr>
        <p:spPr>
          <a:xfrm>
            <a:off x="1133856" y="3474720"/>
            <a:ext cx="9555480" cy="100584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icrosoft YaHei"/>
              </a:rPr>
              <a:t>Paper title / Research topic</a:t>
            </a:r>
          </a:p>
        </p:txBody>
      </p:sp>
      <p:sp>
        <p:nvSpPr>
          <p:cNvPr id="9" name="PFS_CITATION"/>
          <p:cNvSpPr txBox="1"/>
          <p:nvPr/>
        </p:nvSpPr>
        <p:spPr>
          <a:xfrm>
            <a:off x="1124712" y="6217920"/>
            <a:ext cx="8869680" cy="32004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Author · Journal ·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question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174994"/>
                </a:solidFill>
                <a:latin typeface="Microsoft YaHei"/>
              </a:rPr>
              <a:t>RESEARCH LOGIC / FIGURE STORY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700" b="1">
                <a:solidFill>
                  <a:srgbClr val="17345E"/>
                </a:solidFill>
                <a:latin typeface="Microsoft YaHei"/>
              </a:rPr>
              <a:t>科学问题与实验结果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00" b="0">
                <a:solidFill>
                  <a:srgbClr val="40536B"/>
                </a:solidFill>
                <a:latin typeface="Microsoft YaHei"/>
              </a:rPr>
              <a:t>Author · Journal · Year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900" b="1">
                <a:solidFill>
                  <a:srgbClr val="174994"/>
                </a:solidFill>
                <a:latin typeface="Microsoft YaHei"/>
              </a:rPr>
              <a:t>01</a:t>
            </a:r>
          </a:p>
        </p:txBody>
      </p:sp>
      <p:sp>
        <p:nvSpPr>
          <p:cNvPr id="10" name="PFS_LEAD"/>
          <p:cNvSpPr txBox="1"/>
          <p:nvPr/>
        </p:nvSpPr>
        <p:spPr>
          <a:xfrm>
            <a:off x="731520" y="1609344"/>
            <a:ext cx="10424160" cy="9601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900" b="0">
                <a:solidFill>
                  <a:srgbClr val="40536B"/>
                </a:solidFill>
                <a:latin typeface="Microsoft YaHei"/>
              </a:rPr>
              <a:t>研究领域已经知道什么？现有证据还不能回答什么？</a:t>
            </a:r>
          </a:p>
        </p:txBody>
      </p:sp>
      <p:sp>
        <p:nvSpPr>
          <p:cNvPr id="11" name="DECOR_card"/>
          <p:cNvSpPr/>
          <p:nvPr/>
        </p:nvSpPr>
        <p:spPr>
          <a:xfrm>
            <a:off x="658368" y="2798064"/>
            <a:ext cx="10863072" cy="3429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_cardbar"/>
          <p:cNvSpPr/>
          <p:nvPr/>
        </p:nvSpPr>
        <p:spPr>
          <a:xfrm>
            <a:off x="658368" y="2852928"/>
            <a:ext cx="59436" cy="3264408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FS_BULLETS"/>
          <p:cNvSpPr txBox="1"/>
          <p:nvPr/>
        </p:nvSpPr>
        <p:spPr>
          <a:xfrm>
            <a:off x="1005840" y="3072384"/>
            <a:ext cx="10058400" cy="269748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100" b="0">
                <a:solidFill>
                  <a:srgbClr val="17345E"/>
                </a:solidFill>
                <a:latin typeface="Microsoft YaHei"/>
              </a:rPr>
              <a:t>科学问题一
科学问题二
科学问题三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ramewor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174994"/>
                </a:solidFill>
                <a:latin typeface="Microsoft YaHei"/>
              </a:rPr>
              <a:t>RESEARCH LOGIC / FIGURE STORY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700" b="1">
                <a:solidFill>
                  <a:srgbClr val="17345E"/>
                </a:solidFill>
                <a:latin typeface="Microsoft YaHei"/>
              </a:rPr>
              <a:t>科学问题与实验结果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00" b="0">
                <a:solidFill>
                  <a:srgbClr val="40536B"/>
                </a:solidFill>
                <a:latin typeface="Microsoft YaHei"/>
              </a:rPr>
              <a:t>Author · Journal · Year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900" b="1">
                <a:solidFill>
                  <a:srgbClr val="174994"/>
                </a:solidFill>
                <a:latin typeface="Microsoft YaHei"/>
              </a:rPr>
              <a:t>01</a:t>
            </a:r>
          </a:p>
        </p:txBody>
      </p:sp>
      <p:sp>
        <p:nvSpPr>
          <p:cNvPr id="10" name="PFS_LEAD"/>
          <p:cNvSpPr txBox="1"/>
          <p:nvPr/>
        </p:nvSpPr>
        <p:spPr>
          <a:xfrm>
            <a:off x="713232" y="1527048"/>
            <a:ext cx="10607040" cy="4480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40536B"/>
                </a:solidFill>
                <a:latin typeface="Microsoft YaHei"/>
              </a:rPr>
              <a:t>中心科学问题：____ ｜ 研究对象与处理：____</a:t>
            </a:r>
          </a:p>
        </p:txBody>
      </p:sp>
      <p:sp>
        <p:nvSpPr>
          <p:cNvPr id="11" name="PFS_GRAPH_AREA"/>
          <p:cNvSpPr/>
          <p:nvPr/>
        </p:nvSpPr>
        <p:spPr>
          <a:xfrm>
            <a:off x="667512" y="2029968"/>
            <a:ext cx="10835640" cy="413308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FS_TRANSITION"/>
          <p:cNvSpPr txBox="1"/>
          <p:nvPr/>
        </p:nvSpPr>
        <p:spPr>
          <a:xfrm>
            <a:off x="768096" y="6227064"/>
            <a:ext cx="1065276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0">
                <a:solidFill>
                  <a:srgbClr val="40536B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logic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174994"/>
                </a:solidFill>
                <a:latin typeface="Microsoft YaHei"/>
              </a:rPr>
              <a:t>RESEARCH LOGIC / FIGURE STORY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700" b="1">
                <a:solidFill>
                  <a:srgbClr val="17345E"/>
                </a:solidFill>
                <a:latin typeface="Microsoft YaHei"/>
              </a:rPr>
              <a:t>科学问题与实验结果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00" b="0">
                <a:solidFill>
                  <a:srgbClr val="40536B"/>
                </a:solidFill>
                <a:latin typeface="Microsoft YaHei"/>
              </a:rPr>
              <a:t>Author · Journal · Year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900" b="1">
                <a:solidFill>
                  <a:srgbClr val="174994"/>
                </a:solidFill>
                <a:latin typeface="Microsoft YaHei"/>
              </a:rPr>
              <a:t>01</a:t>
            </a:r>
          </a:p>
        </p:txBody>
      </p:sp>
      <p:sp>
        <p:nvSpPr>
          <p:cNvPr id="10" name="PFS_LEAD"/>
          <p:cNvSpPr txBox="1"/>
          <p:nvPr/>
        </p:nvSpPr>
        <p:spPr>
          <a:xfrm>
            <a:off x="713232" y="1600200"/>
            <a:ext cx="10607040" cy="51206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700" b="0">
                <a:solidFill>
                  <a:srgbClr val="40536B"/>
                </a:solidFill>
                <a:latin typeface="Microsoft YaHei"/>
              </a:rPr>
              <a:t>依照论文证据关系生成研究逻辑图</a:t>
            </a:r>
          </a:p>
        </p:txBody>
      </p:sp>
      <p:sp>
        <p:nvSpPr>
          <p:cNvPr id="11" name="PFS_GRAPH_AREA"/>
          <p:cNvSpPr/>
          <p:nvPr/>
        </p:nvSpPr>
        <p:spPr>
          <a:xfrm>
            <a:off x="676656" y="2258568"/>
            <a:ext cx="10853928" cy="3547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FS_TRANSITION"/>
          <p:cNvSpPr txBox="1"/>
          <p:nvPr/>
        </p:nvSpPr>
        <p:spPr>
          <a:xfrm>
            <a:off x="777240" y="5925312"/>
            <a:ext cx="10652760" cy="37490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200" b="0">
                <a:solidFill>
                  <a:srgbClr val="40536B"/>
                </a:solidFill>
                <a:latin typeface="Microsoft YaHei"/>
              </a:rPr>
              <a:t>注：分支、并行验证及机制推断应依照论文实际证据设置。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rout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174994"/>
                </a:solidFill>
                <a:latin typeface="Microsoft YaHei"/>
              </a:rPr>
              <a:t>RESEARCH LOGIC / FIGURE STORY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700" b="1">
                <a:solidFill>
                  <a:srgbClr val="17345E"/>
                </a:solidFill>
                <a:latin typeface="Microsoft YaHei"/>
              </a:rPr>
              <a:t>科学问题与实验结果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00" b="0">
                <a:solidFill>
                  <a:srgbClr val="40536B"/>
                </a:solidFill>
                <a:latin typeface="Microsoft YaHei"/>
              </a:rPr>
              <a:t>Author · Journal · Year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900" b="1">
                <a:solidFill>
                  <a:srgbClr val="174994"/>
                </a:solidFill>
                <a:latin typeface="Microsoft YaHei"/>
              </a:rPr>
              <a:t>01</a:t>
            </a:r>
          </a:p>
        </p:txBody>
      </p:sp>
      <p:sp>
        <p:nvSpPr>
          <p:cNvPr id="10" name="PFS_LEAD"/>
          <p:cNvSpPr txBox="1"/>
          <p:nvPr/>
        </p:nvSpPr>
        <p:spPr>
          <a:xfrm>
            <a:off x="713232" y="1600200"/>
            <a:ext cx="10607040" cy="51206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700" b="0">
                <a:solidFill>
                  <a:srgbClr val="40536B"/>
                </a:solidFill>
                <a:latin typeface="Microsoft YaHei"/>
              </a:rPr>
              <a:t>依照论文证据关系生成研究逻辑图</a:t>
            </a:r>
          </a:p>
        </p:txBody>
      </p:sp>
      <p:sp>
        <p:nvSpPr>
          <p:cNvPr id="11" name="PFS_GRAPH_AREA"/>
          <p:cNvSpPr/>
          <p:nvPr/>
        </p:nvSpPr>
        <p:spPr>
          <a:xfrm>
            <a:off x="676656" y="2258568"/>
            <a:ext cx="10853928" cy="35478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FS_TRANSITION"/>
          <p:cNvSpPr txBox="1"/>
          <p:nvPr/>
        </p:nvSpPr>
        <p:spPr>
          <a:xfrm>
            <a:off x="777240" y="5925312"/>
            <a:ext cx="10652760" cy="37490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200" b="0">
                <a:solidFill>
                  <a:srgbClr val="40536B"/>
                </a:solidFill>
                <a:latin typeface="Microsoft YaHei"/>
              </a:rPr>
              <a:t>注：分支、并行验证及机制推断应依照论文实际证据设置。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figu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174994"/>
                </a:solidFill>
                <a:latin typeface="Microsoft YaHei"/>
              </a:rPr>
              <a:t>RESEARCH LOGIC / FIGURE STORY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700" b="1">
                <a:solidFill>
                  <a:srgbClr val="17345E"/>
                </a:solidFill>
                <a:latin typeface="Microsoft YaHei"/>
              </a:rPr>
              <a:t>科学问题与实验结果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00" b="0">
                <a:solidFill>
                  <a:srgbClr val="40536B"/>
                </a:solidFill>
                <a:latin typeface="Microsoft YaHei"/>
              </a:rPr>
              <a:t>Author · Journal · Year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900" b="1">
                <a:solidFill>
                  <a:srgbClr val="174994"/>
                </a:solidFill>
                <a:latin typeface="Microsoft YaHei"/>
              </a:rPr>
              <a:t>01</a:t>
            </a:r>
          </a:p>
        </p:txBody>
      </p:sp>
      <p:sp>
        <p:nvSpPr>
          <p:cNvPr id="10" name="DECOR_figurebg"/>
          <p:cNvSpPr/>
          <p:nvPr/>
        </p:nvSpPr>
        <p:spPr>
          <a:xfrm>
            <a:off x="640080" y="1572768"/>
            <a:ext cx="6400800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FS_IMAGE"/>
          <p:cNvSpPr/>
          <p:nvPr/>
        </p:nvSpPr>
        <p:spPr>
          <a:xfrm>
            <a:off x="777240" y="1700784"/>
            <a:ext cx="6117336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FS_IMAGE_PLACEHOLDER"/>
          <p:cNvSpPr txBox="1"/>
          <p:nvPr/>
        </p:nvSpPr>
        <p:spPr>
          <a:xfrm>
            <a:off x="1005840" y="3227832"/>
            <a:ext cx="5577840" cy="7315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ctr"/>
            <a:r>
              <a:rPr sz="1700" b="0">
                <a:solidFill>
                  <a:srgbClr val="174994"/>
                </a:solidFill>
                <a:latin typeface="Microsoft YaHei"/>
              </a:rPr>
              <a:t>原论文 Figure / panel 图像区域</a:t>
            </a:r>
          </a:p>
        </p:txBody>
      </p:sp>
      <p:sp>
        <p:nvSpPr>
          <p:cNvPr id="13" name="PFS_FIGURE_REF"/>
          <p:cNvSpPr txBox="1"/>
          <p:nvPr/>
        </p:nvSpPr>
        <p:spPr>
          <a:xfrm>
            <a:off x="868680" y="5998464"/>
            <a:ext cx="5925312" cy="2103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0">
                <a:solidFill>
                  <a:srgbClr val="40536B"/>
                </a:solidFill>
                <a:latin typeface="Microsoft YaHei"/>
              </a:rPr>
              <a:t>Fig 2a–c · Original paper p.5</a:t>
            </a:r>
          </a:p>
        </p:txBody>
      </p:sp>
      <p:sp>
        <p:nvSpPr>
          <p:cNvPr id="14" name="DECOR_rightbg"/>
          <p:cNvSpPr/>
          <p:nvPr/>
        </p:nvSpPr>
        <p:spPr>
          <a:xfrm>
            <a:off x="7159752" y="1572768"/>
            <a:ext cx="4361688" cy="4745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COR_q_label"/>
          <p:cNvSpPr txBox="1"/>
          <p:nvPr/>
        </p:nvSpPr>
        <p:spPr>
          <a:xfrm>
            <a:off x="8110727" y="1746504"/>
            <a:ext cx="3108960" cy="24688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100" b="1">
                <a:solidFill>
                  <a:srgbClr val="174994"/>
                </a:solidFill>
                <a:latin typeface="Microsoft YaHei"/>
              </a:rPr>
              <a:t>研究问题</a:t>
            </a:r>
          </a:p>
        </p:txBody>
      </p:sp>
      <p:sp>
        <p:nvSpPr>
          <p:cNvPr id="16" name="PFS_QUESTION"/>
          <p:cNvSpPr txBox="1"/>
          <p:nvPr/>
        </p:nvSpPr>
        <p:spPr>
          <a:xfrm>
            <a:off x="8110727" y="2002536"/>
            <a:ext cx="3172968" cy="66751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600" b="0">
                <a:solidFill>
                  <a:srgbClr val="17345E"/>
                </a:solidFill>
                <a:latin typeface="Microsoft YaHei"/>
              </a:rPr>
              <a:t>这个实验想解决什么问题？</a:t>
            </a:r>
          </a:p>
        </p:txBody>
      </p:sp>
      <p:sp>
        <p:nvSpPr>
          <p:cNvPr id="17" name="DECOR_div_a"/>
          <p:cNvSpPr/>
          <p:nvPr/>
        </p:nvSpPr>
        <p:spPr>
          <a:xfrm>
            <a:off x="8119872" y="2752344"/>
            <a:ext cx="3072384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COR_d_label"/>
          <p:cNvSpPr txBox="1"/>
          <p:nvPr/>
        </p:nvSpPr>
        <p:spPr>
          <a:xfrm>
            <a:off x="8110727" y="2862072"/>
            <a:ext cx="3108960" cy="23774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100" b="1">
                <a:solidFill>
                  <a:srgbClr val="174994"/>
                </a:solidFill>
                <a:latin typeface="Microsoft YaHei"/>
              </a:rPr>
              <a:t>样本 / 方法 / 对照</a:t>
            </a:r>
          </a:p>
        </p:txBody>
      </p:sp>
      <p:sp>
        <p:nvSpPr>
          <p:cNvPr id="19" name="PFS_DESIGN"/>
          <p:cNvSpPr txBox="1"/>
          <p:nvPr/>
        </p:nvSpPr>
        <p:spPr>
          <a:xfrm>
            <a:off x="8110727" y="3145536"/>
            <a:ext cx="3145536" cy="76809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40536B"/>
                </a:solidFill>
                <a:latin typeface="Microsoft YaHei"/>
              </a:rPr>
              <a:t>样本与实验设计、主要读数</a:t>
            </a:r>
          </a:p>
        </p:txBody>
      </p:sp>
      <p:sp>
        <p:nvSpPr>
          <p:cNvPr id="20" name="DECOR_div_b"/>
          <p:cNvSpPr/>
          <p:nvPr/>
        </p:nvSpPr>
        <p:spPr>
          <a:xfrm>
            <a:off x="8119872" y="3986784"/>
            <a:ext cx="3072384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COR_r_label"/>
          <p:cNvSpPr txBox="1"/>
          <p:nvPr/>
        </p:nvSpPr>
        <p:spPr>
          <a:xfrm>
            <a:off x="8110727" y="4105656"/>
            <a:ext cx="3108960" cy="24688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100" b="1">
                <a:solidFill>
                  <a:srgbClr val="174994"/>
                </a:solidFill>
                <a:latin typeface="Microsoft YaHei"/>
              </a:rPr>
              <a:t>关键结果 / 证据强度</a:t>
            </a:r>
          </a:p>
        </p:txBody>
      </p:sp>
      <p:sp>
        <p:nvSpPr>
          <p:cNvPr id="22" name="PFS_RESULT"/>
          <p:cNvSpPr txBox="1"/>
          <p:nvPr/>
        </p:nvSpPr>
        <p:spPr>
          <a:xfrm>
            <a:off x="8110727" y="4370832"/>
            <a:ext cx="3145536" cy="85953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17345E"/>
                </a:solidFill>
                <a:latin typeface="Microsoft YaHei"/>
              </a:rPr>
              <a:t>图中看到什么；证据支持到哪一步</a:t>
            </a:r>
          </a:p>
        </p:txBody>
      </p:sp>
      <p:sp>
        <p:nvSpPr>
          <p:cNvPr id="23" name="DECOR_div_c"/>
          <p:cNvSpPr/>
          <p:nvPr/>
        </p:nvSpPr>
        <p:spPr>
          <a:xfrm>
            <a:off x="8119872" y="5303520"/>
            <a:ext cx="3072384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FS_TRANSITION"/>
          <p:cNvSpPr txBox="1"/>
          <p:nvPr/>
        </p:nvSpPr>
        <p:spPr>
          <a:xfrm>
            <a:off x="8110727" y="5431536"/>
            <a:ext cx="3172968" cy="60350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200" b="0">
                <a:solidFill>
                  <a:srgbClr val="174994"/>
                </a:solidFill>
                <a:latin typeface="Microsoft YaHei"/>
              </a:rPr>
              <a:t>下一步：仍需回答……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conclusion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174994"/>
                </a:solidFill>
                <a:latin typeface="Microsoft YaHei"/>
              </a:rPr>
              <a:t>RESEARCH LOGIC / FIGURE STORY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700" b="1">
                <a:solidFill>
                  <a:srgbClr val="17345E"/>
                </a:solidFill>
                <a:latin typeface="Microsoft YaHei"/>
              </a:rPr>
              <a:t>科学问题与实验结果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00" b="0">
                <a:solidFill>
                  <a:srgbClr val="40536B"/>
                </a:solidFill>
                <a:latin typeface="Microsoft YaHei"/>
              </a:rPr>
              <a:t>Author · Journal · Year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900" b="1">
                <a:solidFill>
                  <a:srgbClr val="174994"/>
                </a:solidFill>
                <a:latin typeface="Microsoft YaHei"/>
              </a:rPr>
              <a:t>01</a:t>
            </a:r>
          </a:p>
        </p:txBody>
      </p:sp>
      <p:sp>
        <p:nvSpPr>
          <p:cNvPr id="10" name="DECOR_conclusion_bg"/>
          <p:cNvSpPr/>
          <p:nvPr/>
        </p:nvSpPr>
        <p:spPr>
          <a:xfrm>
            <a:off x="685800" y="1627632"/>
            <a:ext cx="6903720" cy="4526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_conclusion_right"/>
          <p:cNvSpPr/>
          <p:nvPr/>
        </p:nvSpPr>
        <p:spPr>
          <a:xfrm>
            <a:off x="7818120" y="1627632"/>
            <a:ext cx="3657600" cy="452628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_findings"/>
          <p:cNvSpPr txBox="1"/>
          <p:nvPr/>
        </p:nvSpPr>
        <p:spPr>
          <a:xfrm>
            <a:off x="969264" y="1929384"/>
            <a:ext cx="6309360" cy="329184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500" b="1">
                <a:solidFill>
                  <a:srgbClr val="174994"/>
                </a:solidFill>
                <a:latin typeface="Microsoft YaHei"/>
              </a:rPr>
              <a:t>论文支持的主要发现</a:t>
            </a:r>
          </a:p>
        </p:txBody>
      </p:sp>
      <p:sp>
        <p:nvSpPr>
          <p:cNvPr id="13" name="PFS_POINTS"/>
          <p:cNvSpPr txBox="1"/>
          <p:nvPr/>
        </p:nvSpPr>
        <p:spPr>
          <a:xfrm>
            <a:off x="978408" y="2514600"/>
            <a:ext cx="6153912" cy="324612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800" b="0">
                <a:solidFill>
                  <a:srgbClr val="17345E"/>
                </a:solidFill>
                <a:latin typeface="Microsoft YaHei"/>
              </a:rPr>
              <a:t>发现一
发现二
发现三</a:t>
            </a:r>
          </a:p>
        </p:txBody>
      </p:sp>
      <p:sp>
        <p:nvSpPr>
          <p:cNvPr id="14" name="DECOR_limit_label"/>
          <p:cNvSpPr txBox="1"/>
          <p:nvPr/>
        </p:nvSpPr>
        <p:spPr>
          <a:xfrm>
            <a:off x="8110727" y="1929384"/>
            <a:ext cx="2926080" cy="32004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500" b="1">
                <a:solidFill>
                  <a:srgbClr val="174994"/>
                </a:solidFill>
                <a:latin typeface="Microsoft YaHei"/>
              </a:rPr>
              <a:t>证据边界与局限</a:t>
            </a:r>
          </a:p>
        </p:txBody>
      </p:sp>
      <p:sp>
        <p:nvSpPr>
          <p:cNvPr id="15" name="PFS_LIMITATION"/>
          <p:cNvSpPr txBox="1"/>
          <p:nvPr/>
        </p:nvSpPr>
        <p:spPr>
          <a:xfrm>
            <a:off x="8110727" y="2459736"/>
            <a:ext cx="3017520" cy="2971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600" b="0">
                <a:solidFill>
                  <a:srgbClr val="17345E"/>
                </a:solidFill>
                <a:latin typeface="Microsoft YaHei"/>
              </a:rPr>
              <a:t>哪些是统计关联？哪些仍是机制假说？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technolog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174994"/>
                </a:solidFill>
                <a:latin typeface="Microsoft YaHei"/>
              </a:rPr>
              <a:t>RESEARCH LOGIC / FIGURE STORY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700" b="1">
                <a:solidFill>
                  <a:srgbClr val="17345E"/>
                </a:solidFill>
                <a:latin typeface="Microsoft YaHei"/>
              </a:rPr>
              <a:t>科学问题与实验结果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00" b="0">
                <a:solidFill>
                  <a:srgbClr val="40536B"/>
                </a:solidFill>
                <a:latin typeface="Microsoft YaHei"/>
              </a:rPr>
              <a:t>Author · Journal · Year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900" b="1">
                <a:solidFill>
                  <a:srgbClr val="174994"/>
                </a:solidFill>
                <a:latin typeface="Microsoft YaHei"/>
              </a:rPr>
              <a:t>01</a:t>
            </a:r>
          </a:p>
        </p:txBody>
      </p:sp>
      <p:sp>
        <p:nvSpPr>
          <p:cNvPr id="10" name="DECOR_bodybg"/>
          <p:cNvSpPr/>
          <p:nvPr/>
        </p:nvSpPr>
        <p:spPr>
          <a:xfrm>
            <a:off x="694944" y="1645920"/>
            <a:ext cx="10762488" cy="4526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FS_LEAD"/>
          <p:cNvSpPr txBox="1"/>
          <p:nvPr/>
        </p:nvSpPr>
        <p:spPr>
          <a:xfrm>
            <a:off x="960120" y="1828800"/>
            <a:ext cx="10012680" cy="53035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900" b="0">
                <a:solidFill>
                  <a:srgbClr val="174994"/>
                </a:solidFill>
                <a:latin typeface="Microsoft YaHei"/>
              </a:rPr>
              <a:t>这一技术在本研究中提供了什么关键观测量？</a:t>
            </a:r>
          </a:p>
        </p:txBody>
      </p:sp>
      <p:sp>
        <p:nvSpPr>
          <p:cNvPr id="12" name="PFS_POINTS"/>
          <p:cNvSpPr txBox="1"/>
          <p:nvPr/>
        </p:nvSpPr>
        <p:spPr>
          <a:xfrm>
            <a:off x="987552" y="2578608"/>
            <a:ext cx="9857232" cy="306324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800" b="0">
                <a:solidFill>
                  <a:srgbClr val="17345E"/>
                </a:solidFill>
                <a:latin typeface="Microsoft YaHei"/>
              </a:rPr>
              <a:t>技术价值一
技术价值二
技术价值三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FS_LAYOUT_tex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_top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_titleline"/>
          <p:cNvSpPr/>
          <p:nvPr/>
        </p:nvSpPr>
        <p:spPr>
          <a:xfrm>
            <a:off x="640080" y="1389888"/>
            <a:ext cx="10927080" cy="24688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FS_SECTION"/>
          <p:cNvSpPr txBox="1"/>
          <p:nvPr/>
        </p:nvSpPr>
        <p:spPr>
          <a:xfrm>
            <a:off x="694944" y="256032"/>
            <a:ext cx="5486400" cy="25603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000" b="1">
                <a:solidFill>
                  <a:srgbClr val="174994"/>
                </a:solidFill>
                <a:latin typeface="Microsoft YaHei"/>
              </a:rPr>
              <a:t>RESEARCH LOGIC / FIGURE STORY</a:t>
            </a:r>
          </a:p>
        </p:txBody>
      </p:sp>
      <p:sp>
        <p:nvSpPr>
          <p:cNvPr id="6" name="PFS_TITLE"/>
          <p:cNvSpPr txBox="1"/>
          <p:nvPr/>
        </p:nvSpPr>
        <p:spPr>
          <a:xfrm>
            <a:off x="658368" y="612648"/>
            <a:ext cx="10908792" cy="68580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2700" b="1">
                <a:solidFill>
                  <a:srgbClr val="17345E"/>
                </a:solidFill>
                <a:latin typeface="Microsoft YaHei"/>
              </a:rPr>
              <a:t>科学问题与实验结果</a:t>
            </a:r>
          </a:p>
        </p:txBody>
      </p:sp>
      <p:sp>
        <p:nvSpPr>
          <p:cNvPr id="7" name="DECOR_footerline"/>
          <p:cNvSpPr/>
          <p:nvPr/>
        </p:nvSpPr>
        <p:spPr>
          <a:xfrm>
            <a:off x="658368" y="6519672"/>
            <a:ext cx="10881360" cy="16459"/>
          </a:xfrm>
          <a:prstGeom prst="rect">
            <a:avLst/>
          </a:prstGeom>
          <a:solidFill>
            <a:srgbClr val="D7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FS_CITATION"/>
          <p:cNvSpPr txBox="1"/>
          <p:nvPr/>
        </p:nvSpPr>
        <p:spPr>
          <a:xfrm>
            <a:off x="694944" y="6574536"/>
            <a:ext cx="8869680" cy="201168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900" b="0">
                <a:solidFill>
                  <a:srgbClr val="40536B"/>
                </a:solidFill>
                <a:latin typeface="Microsoft YaHei"/>
              </a:rPr>
              <a:t>Author · Journal · Year</a:t>
            </a:r>
          </a:p>
        </p:txBody>
      </p:sp>
      <p:sp>
        <p:nvSpPr>
          <p:cNvPr id="9" name="PFS_NUMBER"/>
          <p:cNvSpPr txBox="1"/>
          <p:nvPr/>
        </p:nvSpPr>
        <p:spPr>
          <a:xfrm>
            <a:off x="10588752" y="6565392"/>
            <a:ext cx="749808" cy="219456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r"/>
            <a:r>
              <a:rPr sz="900" b="1">
                <a:solidFill>
                  <a:srgbClr val="174994"/>
                </a:solidFill>
                <a:latin typeface="Microsoft YaHei"/>
              </a:rPr>
              <a:t>01</a:t>
            </a:r>
          </a:p>
        </p:txBody>
      </p:sp>
      <p:sp>
        <p:nvSpPr>
          <p:cNvPr id="10" name="DECOR_bodybg"/>
          <p:cNvSpPr/>
          <p:nvPr/>
        </p:nvSpPr>
        <p:spPr>
          <a:xfrm>
            <a:off x="694944" y="1645920"/>
            <a:ext cx="10762488" cy="4526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FS_LEAD"/>
          <p:cNvSpPr txBox="1"/>
          <p:nvPr/>
        </p:nvSpPr>
        <p:spPr>
          <a:xfrm>
            <a:off x="960120" y="1828800"/>
            <a:ext cx="10012680" cy="530352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900" b="0">
                <a:solidFill>
                  <a:srgbClr val="174994"/>
                </a:solidFill>
                <a:latin typeface="Microsoft YaHei"/>
              </a:rPr>
              <a:t>这一技术在本研究中提供了什么关键观测量？</a:t>
            </a:r>
          </a:p>
        </p:txBody>
      </p:sp>
      <p:sp>
        <p:nvSpPr>
          <p:cNvPr id="12" name="PFS_POINTS"/>
          <p:cNvSpPr txBox="1"/>
          <p:nvPr/>
        </p:nvSpPr>
        <p:spPr>
          <a:xfrm>
            <a:off x="987552" y="2578608"/>
            <a:ext cx="9857232" cy="3063240"/>
          </a:xfrm>
          <a:prstGeom prst="rect">
            <a:avLst/>
          </a:prstGeom>
          <a:noFill/>
        </p:spPr>
        <p:txBody>
          <a:bodyPr wrap="square" lIns="36576" rIns="36576" tIns="13716" bIns="13716" anchor="ctr">
            <a:spAutoFit/>
          </a:bodyPr>
          <a:lstStyle/>
          <a:p>
            <a:pPr algn="l"/>
            <a:r>
              <a:rPr sz="1800" b="0">
                <a:solidFill>
                  <a:srgbClr val="17345E"/>
                </a:solidFill>
                <a:latin typeface="Microsoft YaHei"/>
              </a:rPr>
              <a:t>技术价值一
技术价值二
技术价值三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