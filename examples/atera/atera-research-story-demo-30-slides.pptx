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研究关注一个测量问题：能否在保留组织空间结构的同时，读取肿瘤的基因组克隆及免疫细胞状态。作者比较Atera与两套靶向Xenium数据，并用DNA测序和蛋白成像检验关键推断。以下按证据推进组织汇报。论文为2026年8月21日版本的bioRxiv预印本。</a:t>
            </a:r>
          </a:p>
          <a:p/>
          <a:p>
            <a:r>
              <a:t>证据定位：Wu et al.  bioRxiv 2026.08.21  ·  doi:10.64898/2026.08.03.741871  ·  预印本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靶向原位平台提供单细胞位置，但研究者必须预先选定基因。稀有状态的标志可能不在面板中。另一类基于测序的空间平台虽然覆盖广，却常在多细胞spot层面模糊克隆边界。作者因此提出两个尚缺独立验证的问题：细胞状态是否真实，以及RNA推断的基因组变化是否符合DNA。最后再把这两类信息整合。</a:t>
            </a:r>
          </a:p>
          <a:p/>
          <a:p>
            <a:r>
              <a:t>证据定位：来源：Introduction，PDF pp.3–4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篇论文并非单一机制实验的线性链。平台基准之后，克隆推断与免疫细分是相互补充的两条分支。DNA测序检验CNV，蛋白成像检验细胞身份和空间组织。只有这两轴得到支持，作者才将其叠合到同一组织空间，量化导管附近的免疫变化。这仍是单个标本的横断面关联研究。</a:t>
            </a:r>
          </a:p>
          <a:p/>
          <a:p>
            <a:r>
              <a:t>证据定位：来源：Results，PDF pp.5–18；Methods，pp.22–29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样本设计与科学任务放在一起。同一DCIS块的Atera和280切片支撑较接近的比较，5K来自另一患者。平台性能、CNV、免疫状态构成并行任务。CNV接受DNA测序核验，免疫细胞接受蛋白成像核验，技术下采样进一步拆分基因覆盖与检测深度。最终空间整合关注关联，不以箭头表示免疫细胞驱动克隆演化。</a:t>
            </a:r>
          </a:p>
          <a:p/>
          <a:p>
            <a:r>
              <a:t>证据定位：来源：Fig1、Fig3–5；Methods pp.22–29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研究的可核验设计。同一FFPE块中，Atera与280切片相隔约100微米，作者另取邻近切片作显微切割和免疫荧光。病理确认和大类注释恢复了预期导管结构。这里证明的是基本组织一致性，尚未证明每个细分状态或CNV都正确，后面两条验证分支正是为此设置。</a:t>
            </a:r>
          </a:p>
          <a:p/>
          <a:p>
            <a:r>
              <a:t>证据定位：Fig 1a · PDF p.6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K数据是有用的扩展比较，但并非同患者配对。补图显示它还包含浸润癌区，也没有正常乳腺结构。因此缺少正常腔面细胞是样本组成问题。后面凡涉及三平台排名，均限定为本研究三套数据，尤其不能用5K较低计数直接推断平台在所有患者中都较差。</a:t>
            </a:r>
          </a:p>
          <a:p/>
          <a:p>
            <a:r>
              <a:t>证据定位：Fig 1b · p.6；Supp Fig 1a–c · pp.30–31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组图先判断实际测到多少，而非仅比较面板标称规模。每细胞RNA和检测基因数均以Atera更高。c是每个细胞内部的基因计数分档，不是把全样本平均表达量分档。d将每细胞计数放回空间，使用共同色标。图中没有明确提供中位数或倍数，汇报保留方向，不从曲线估造精确数值。</a:t>
            </a:r>
          </a:p>
          <a:p/>
          <a:p>
            <a:r>
              <a:t>证据定位：Fig 2a–d · PDF p.9；Methods pp.22–23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计数可能受细胞组成混杂，所以作者在大类内部重复比较。Atera优势仍在。与此同时，同块Atera与280检出的细胞大类比例高度相关。该相关的单位是细胞类型比例，而非逐细胞配对，更不能将0.88当作注释准确率。灵敏度不同并未阻止两者恢复相近的宏观组成。</a:t>
            </a:r>
          </a:p>
          <a:p/>
          <a:p>
            <a:r>
              <a:t>证据定位：Fig 2e–g · PDF p.9；Methods p.23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h是280，i是Atera，注意这两个panel的顺序。作者使用各自数据中的top5 marker，因此这是贴近注释任务的表现比较，还不是固定基因集合的严格配对。Atera的信号更强、更集中于预期细胞类型。下一页用共同marker检查这一趋势，避免把不同marker选择造成的差异误当成全部技术效应。</a:t>
            </a:r>
          </a:p>
          <a:p/>
          <a:p>
            <a:r>
              <a:t>证据定位：Fig 2h–i · PDF p.9；图注续p.10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属于独立患者的5K数据。共同marker分析对前页的marker选择差异作了补充，但仍不能消除患者和切片混杂。这里建立的是检测与注释可用性。要判断是否真的识别到了稀有细胞，或是否真的读出了CNV，必须分别进入蛋白和DNA验证。</a:t>
            </a:r>
          </a:p>
          <a:p/>
          <a:p>
            <a:r>
              <a:t>证据定位：Fig 2j · p.9；Supp Fig 2a · p.31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保留并非所有指标都由Atera最高的结果。FTC最高的是5K。SNR取平均基因信号与负控探针平均值之比，宽面板包含很多低表达基因，降低均值。作者据此解释其较低SNR。FDR在此由SNR倒数计算，是背景指标，不是差异表达多重检验的FDR。稀疏度和熵也受面板构成影响。</a:t>
            </a:r>
          </a:p>
          <a:p/>
          <a:p>
            <a:r>
              <a:t>证据定位：Supp Fig 2b–j · PDF p.31；Methods p.23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先检查CNV推断的可行性。有限靶向基因在染色体上的稀疏覆盖，使280主要恢复整染色体变化；5K能读到部分臂级事件，但其样本不同。Atera有约1500个窗口，提供更细分辨率。窗口越多并不自动等于更准确，后面将用同块DNA测量核验。</a:t>
            </a:r>
          </a:p>
          <a:p/>
          <a:p>
            <a:r>
              <a:t>证据定位：Supp Fig 3a–c · PDF p.32；Results p.10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、b首先是转录状态，并不能直接叫DNA克隆。inferCNVpy以正常腔面细胞为基线，将表达量沿基因组排序、滑动平滑。作者随后仅对观察细胞施加至少3000检测基因过滤，再用CNV谱聚类得到四个克隆。C和B的n都是细胞数，不是患者数。接下来检验这些CNV模式能否组成有分支的演化模型。</a:t>
            </a:r>
          </a:p>
          <a:p/>
          <a:p>
            <a:r>
              <a:t>证据定位：Fig 3a–c · PDF p.13；Methods p.24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同事件定义恶性共同祖先，A沿另一分支较早分开。B、C、D共享11q事件，C与D再分化。11q13.3模块表达与该模型空间上相符，但它来自相同RNA数据，不能充当独立DNA证据。树枝长度是CNV状态变化的模型量，不是实际年代。原图的分支拓扑必须保留。</a:t>
            </a:r>
          </a:p>
          <a:p/>
          <a:p>
            <a:r>
              <a:t>证据定位：Fig 3d–f · PDF p.13；Results p.11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NA推断可能混入转录调控，所以作者用DNA独立核验。病理专家在相邻切片定位对应导管，避开导管间基质，部分DCIS区域跨两切片合并。16个区域中有两个正常参考。WGS显示关键拷贝数事件具有对应的空间分布。Atera红框以外也有LCM区域，因此应理解为组织区域层面的正交核验。</a:t>
            </a:r>
          </a:p>
          <a:p/>
          <a:p>
            <a:r>
              <a:t>证据定位：Fig 3g · PDF p.13；Methods pp.24–25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WGS与RNA使用不同建树算法：RNA是最大简约，DNA是欧氏距离的neighbor joining。二者主要结构相符，尤其A与C/D分支的区分。WGS有Normal、A、C、D区域，未取到可对应的B。因此本图支持主要克隆架构，不能证明每细胞的CNV、每个祖先事件或完整真实历史都无误。</a:t>
            </a:r>
          </a:p>
          <a:p/>
          <a:p>
            <a:r>
              <a:t>证据定位：Fig 3h–i · pp.13–14；Supp Fig 3e · p.32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定性的热图核验变成臂级相关。图中每个点是一条染色体臂。Atera和WGS的Spearman相关为0.75，而280与WGS没有同样的吻合。这里没有同患者5K的DNA对照，所以不能把三者都宣称接受了同等真值评估。完成克隆轴后，转向另一条并行的免疫状态轴。</a:t>
            </a:r>
          </a:p>
          <a:p/>
          <a:p>
            <a:r>
              <a:t>证据定位：Supp Fig 3d · PDF p.32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条分支检验更高覆盖和深度是否带来生物学分辨收益。Atera分出了多种常见髓系状态和mregDC、pDC两个稀有小群。280仅三个状态可有把握命名，另有不确定单核/DC群。5K仍有一个无法细分的C1QC巨噬群。UMAP视觉分离不能独立证明身份，所以接下来检查marker，再在蛋白层面寻找对应细胞。</a:t>
            </a:r>
          </a:p>
          <a:p/>
          <a:p>
            <a:r>
              <a:t>证据定位：Fig 4a–c · PDF p.15；Results p.14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的大小是表达细胞比例，颜色是平均表达，因此不能只看某个亮点就给细胞命名。多个marker的组合支持Atera中的细分群。不同平台marker掉失程度不同，也受样本影响。作者接着在同一Atera计数矩阵中减少基因集合或检测深度，减少跨患者比较带来的混杂，检验技术因素的贡献。</a:t>
            </a:r>
          </a:p>
          <a:p/>
          <a:p>
            <a:r>
              <a:t>证据定位：Fig 4d · PDF p.15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不是新做一次平台测量，而是在Atera内部进行计算下采样。5K基因集合保留全深度时多数指标接近完整Atera，降低检测深度的影响更明显。不同指标下降幅度并不完全一致。该分析支持深度是重要限制因素，但真实平台还包括探针性能、分割及组织差异，不能用模拟直接消除这些因素。</a:t>
            </a:r>
          </a:p>
          <a:p/>
          <a:p>
            <a:r>
              <a:t>证据定位：Supp Fig 4a,c · PDF p.33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e是局部细胞组成的聚类，使用30近邻和五类设定。正常与A主要位于同一上皮niche，B与C偏另一类，D再偏第三类。免疫niche富集稀有免疫状态，其到肿瘤细胞的最近距离小于到正常上皮。图中的星号检验细节未充分报告，因此只按原文描述更近，不自行指定检验或P值阈值。</a:t>
            </a:r>
          </a:p>
          <a:p/>
          <a:p>
            <a:r>
              <a:t>证据定位：Fig 4e–g · PDF p.15；Methods p.26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图用独立测量方式检验RNA中看到的空间结构。TCF1/7与CD4双阳性支持该T细胞群，HLA-DR与CCR7支持成熟DC表型，周边还有B细胞。蛋白成像强化了群体存在及空间共定位的可信度，但相邻切片并非同一细胞注册，也没有功能实验直接证明这些细胞正在互相激活。</a:t>
            </a:r>
          </a:p>
          <a:p/>
          <a:p>
            <a:r>
              <a:t>证据定位：Fig 4h · PDF p.15；Methods pp.28–29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作者用HLA-DR、granzyme B阳性而CD3e阴性的组合寻找pDC。图示四处小视野支持稀有群体存在。由于没有报告对全部pDC的盲法计数、灵敏度或特异度，这不能转写成平台准确率。至此两条证据轴都有正交测量支持，下一步才把免疫组织和克隆架构放在同一坐标内定量。</a:t>
            </a:r>
          </a:p>
          <a:p/>
          <a:p>
            <a:r>
              <a:t>证据定位：Supp Fig 4b · PDF p.33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以40微米邻接图界定导管，保留128个、21587细胞。免疫比例的分母是200微米内所有其他细胞，先逐细胞计算，再取导管均值。空间自相关使普通独立检验不合适，因此用999次整体平移保留免疫空间结构。总体有正向有序关联，但B是例外，且组织左右位置也与免疫比例相关，不能把克隆顺序当独立时间变量。</a:t>
            </a:r>
          </a:p>
          <a:p/>
          <a:p>
            <a:r>
              <a:t>证据定位：Fig 5a–e · p.17；图注p.18；Methods pp.26–28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这里的两个百分比均是邻域细胞比例，不是导管内部的绝对密度。SPP1 TAM在B到C有所下降，增殖状态也存在局部下降，因此只能说总体有序趋势及D最丰富。图g还显示FOLR2等群体的不同富集模式，不能将所有免疫细胞概括为同一变化。接下来用IF检查SPP1巨噬细胞与增殖肿瘤的共定位。</a:t>
            </a:r>
          </a:p>
          <a:p/>
          <a:p>
            <a:r>
              <a:t>证据定位：Fig 5f–i · pp.17–18；Methods p.28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用IBA1与SPP1标出巨噬细胞，用PanCK与Ki67标出增殖肿瘤。局部视野在D克隆上皮内显示两类细胞共定位，与RNA图景一致。这里没有敲除、阻断、去除或救援，所以不应说SPP1巨噬细胞驱动增殖，也不能判定是肿瘤先改变了免疫。它是被蛋白证据支持的空间关联。</a:t>
            </a:r>
          </a:p>
          <a:p/>
          <a:p>
            <a:r>
              <a:t>证据定位：Fig 5j · PDF p.17；图注p.18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把蛋白计数聚合到与WGS对应的16区域。m与n的纵轴是区域细胞丰度，不能与前页的200微米邻域百分比直接等同。D区域最丰富，但D只有三个区域，也都来自同一标本，不能作为独立患者重复。验证包括Normal、A、C、D，没有B。这完成了两条证据轴在空间上的汇合。</a:t>
            </a:r>
          </a:p>
          <a:p/>
          <a:p>
            <a:r>
              <a:t>证据定位：Fig 5k–n · pp.17–18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贡献在于把以往分开的克隆和免疫读数放入同一原位框架，并针对它们分别配置DNA与蛋白核验。更宽面板只是起点，独立证据才提高生物学解释的可信度。主要结论限于本例的测量可行性及空间组织，最终得到的是被核验的关联图景，还不是免疫选择或SPP1作用的因果机制。</a:t>
            </a:r>
          </a:p>
          <a:p/>
          <a:p>
            <a:r>
              <a:t>证据定位：来源：Fig2–5；Discussion pp.19–20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明确将研究定位为方法所能揭示的生物学示例，尚非人群规律。单张切片无法真实追踪时间，空间位置也可能混杂克隆与免疫的关联。不同平台、样本和切片差异无法完全拆开。未来多病例、纵向取样和功能干预有助于解决这些问题，但应明确它们不是本文的数据。</a:t>
            </a:r>
          </a:p>
          <a:p/>
          <a:p>
            <a:r>
              <a:t>证据定位：来源：Discussion pp.19–20；Methods pp.24–28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a提供表达和空间的共同坐标，DNA与蛋白是对其不同推断的正交检验。LCM-WGS牺牲单细胞分辨，换取直接基因组证据；IF只测有限蛋白，却能验证细胞身份和空间共定位。下采样解释技术限制，torus-shift缓解空间自相关对显著性的夸大。各自边界不同，因此组合比单一技术的自洽更有说服力。</a:t>
            </a:r>
          </a:p>
          <a:p/>
          <a:p>
            <a:r>
              <a:t>证据定位：来源：Methods pp.22–29；Supp Fig2–4</a:t>
            </a:r>
          </a:p>
          <a:p>
            <a:r>
              <a:t>用户提供PDF；bioRxiv v2，2026-08-21，doi:10.64898/2026.08.03.741871。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cov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lowerband"/>
          <p:cNvSpPr/>
          <p:nvPr/>
        </p:nvSpPr>
        <p:spPr>
          <a:xfrm>
            <a:off x="0" y="6062472"/>
            <a:ext cx="12191695" cy="79552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accentline"/>
          <p:cNvSpPr/>
          <p:nvPr/>
        </p:nvSpPr>
        <p:spPr>
          <a:xfrm>
            <a:off x="914400" y="1444752"/>
            <a:ext cx="128016" cy="3337560"/>
          </a:xfrm>
          <a:prstGeom prst="rect">
            <a:avLst/>
          </a:prstGeom>
          <a:solidFill>
            <a:srgbClr val="337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ECOR_cornerline"/>
          <p:cNvSpPr/>
          <p:nvPr/>
        </p:nvSpPr>
        <p:spPr>
          <a:xfrm>
            <a:off x="9966960" y="804672"/>
            <a:ext cx="1243584" cy="64008"/>
          </a:xfrm>
          <a:prstGeom prst="rect">
            <a:avLst/>
          </a:prstGeom>
          <a:solidFill>
            <a:srgbClr val="337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PFS_SECTION"/>
          <p:cNvSpPr txBox="1"/>
          <p:nvPr/>
        </p:nvSpPr>
        <p:spPr>
          <a:xfrm>
            <a:off x="1115568" y="1051560"/>
            <a:ext cx="9875520" cy="34747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研究总览</a:t>
            </a:r>
          </a:p>
        </p:txBody>
      </p:sp>
      <p:sp>
        <p:nvSpPr>
          <p:cNvPr id="7" name="PFS_TITLE"/>
          <p:cNvSpPr txBox="1"/>
          <p:nvPr/>
        </p:nvSpPr>
        <p:spPr>
          <a:xfrm>
            <a:off x="1115568" y="1600200"/>
            <a:ext cx="9738360" cy="16002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34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如何在原位连接肿瘤克隆
与免疫微环境？</a:t>
            </a:r>
          </a:p>
        </p:txBody>
      </p:sp>
      <p:sp>
        <p:nvSpPr>
          <p:cNvPr id="8" name="PFS_SUBTITLE"/>
          <p:cNvSpPr txBox="1"/>
          <p:nvPr/>
        </p:nvSpPr>
        <p:spPr>
          <a:xfrm>
            <a:off x="1133856" y="3429000"/>
            <a:ext cx="9555480" cy="150876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7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Atera全转录组空间测量在乳腺导管原位癌中的评估
Resolving the immune response across clonal cancer evolution in situ with Atera whole transcriptome profiling</a:t>
            </a:r>
          </a:p>
        </p:txBody>
      </p:sp>
      <p:sp>
        <p:nvSpPr>
          <p:cNvPr id="9" name="PFS_CITATION"/>
          <p:cNvSpPr txBox="1"/>
          <p:nvPr/>
        </p:nvSpPr>
        <p:spPr>
          <a:xfrm>
            <a:off x="1124712" y="6217920"/>
            <a:ext cx="8869680" cy="32004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Wu et al.  bioRxiv 2026.08.21  ·  doi:10.64898/2026.08.03.741871  ·  预印本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questio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研究总览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原位研究还缺哪两类可靠证据？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来源：Introduction，PDF pp.3–4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FS_LEAD"/>
          <p:cNvSpPr txBox="1"/>
          <p:nvPr/>
        </p:nvSpPr>
        <p:spPr>
          <a:xfrm>
            <a:off x="731520" y="1609344"/>
            <a:ext cx="10424160" cy="96012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既有原位靶向面板可保留单细胞空间位置，但预选基因限制未知状态和基因组尺度推断。</a:t>
            </a:r>
          </a:p>
        </p:txBody>
      </p:sp>
      <p:sp>
        <p:nvSpPr>
          <p:cNvPr id="11" name="DECOR_card"/>
          <p:cNvSpPr/>
          <p:nvPr/>
        </p:nvSpPr>
        <p:spPr>
          <a:xfrm>
            <a:off x="658368" y="2798064"/>
            <a:ext cx="1086307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ECOR_cardbar"/>
          <p:cNvSpPr/>
          <p:nvPr/>
        </p:nvSpPr>
        <p:spPr>
          <a:xfrm>
            <a:off x="658368" y="2852928"/>
            <a:ext cx="59436" cy="326440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PFS_BULLETS"/>
          <p:cNvSpPr txBox="1"/>
          <p:nvPr/>
        </p:nvSpPr>
        <p:spPr>
          <a:xfrm>
            <a:off x="1005840" y="3072384"/>
            <a:ext cx="10058400" cy="269748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21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细胞状态：更宽的基因覆盖，能否找回靶向面板难以分辨的稀有免疫细胞？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21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肿瘤克隆：由RNA表达推断的CNV及系统树，能否通过直接DNA测量核验？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21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整合目标：把可信的免疫注释放回克隆空间，描述两者如何共同组织。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研究总览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研究思路：先建立可信读数，再整合两条证据轴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来源：Results，PDF pp.5–18；Methods，pp.22–29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DECOR_bodybg"/>
          <p:cNvSpPr/>
          <p:nvPr/>
        </p:nvSpPr>
        <p:spPr>
          <a:xfrm>
            <a:off x="694944" y="1645920"/>
            <a:ext cx="10762488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LEAD"/>
          <p:cNvSpPr txBox="1"/>
          <p:nvPr/>
        </p:nvSpPr>
        <p:spPr>
          <a:xfrm>
            <a:off x="960120" y="1828800"/>
            <a:ext cx="10012680" cy="53035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以DCIS为示例，同时读取“肿瘤克隆”和“免疫状态”</a:t>
            </a:r>
          </a:p>
        </p:txBody>
      </p:sp>
      <p:sp>
        <p:nvSpPr>
          <p:cNvPr id="12" name="PFS_POINTS"/>
          <p:cNvSpPr txBox="1"/>
          <p:nvPr/>
        </p:nvSpPr>
        <p:spPr>
          <a:xfrm>
            <a:off x="987552" y="2578608"/>
            <a:ext cx="9857232" cy="306324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平台基线：比较每细胞RNA、基因覆盖及marker信号，明确可观测范围。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克隆分支：Atera推断CNV与分支系统树，再用16个LCM区域的WGS核验。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免疫分支：细分髓系与稀有群体，再用邻近切片多重IF核验。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空间汇合：按导管量化200 µm邻域，检验免疫富集与克隆顺序的关联。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ramewor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研究总览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总体研究思路与实验框架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来源：Fig1、Fig3–5；Methods pp.22–29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PFS_LEAD"/>
          <p:cNvSpPr txBox="1"/>
          <p:nvPr/>
        </p:nvSpPr>
        <p:spPr>
          <a:xfrm>
            <a:off x="713232" y="1527048"/>
            <a:ext cx="10607040" cy="4480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4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同块近邻切片提供DNA与蛋白核验，克隆轴与免疫轴在空间分析中汇合</a:t>
            </a:r>
          </a:p>
        </p:txBody>
      </p:sp>
      <p:sp>
        <p:nvSpPr>
          <p:cNvPr id="12" name="PFS_TRANSITION"/>
          <p:cNvSpPr txBox="1"/>
          <p:nvPr/>
        </p:nvSpPr>
        <p:spPr>
          <a:xfrm>
            <a:off x="768096" y="6227064"/>
            <a:ext cx="1065276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FRAME_SOURCE"/>
          <p:cNvSpPr/>
          <p:nvPr/>
        </p:nvSpPr>
        <p:spPr>
          <a:xfrm>
            <a:off x="758952" y="2011680"/>
            <a:ext cx="2103120" cy="804672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/>
            <a:r>
              <a:rPr sz="1300" b="1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DCIS FFPE块（1例）
Atera + Xenium 280
约相隔100 µm</a:t>
            </a:r>
          </a:p>
        </p:txBody>
      </p:sp>
      <p:sp>
        <p:nvSpPr>
          <p:cNvPr id="14" name="FRAME_OTHER"/>
          <p:cNvSpPr/>
          <p:nvPr/>
        </p:nvSpPr>
        <p:spPr>
          <a:xfrm>
            <a:off x="758952" y="3127248"/>
            <a:ext cx="2103120" cy="786384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/>
            <a:r>
              <a:rPr sz="13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另一患者
Xenium 5K+100
含DCIS及浸润癌</a:t>
            </a:r>
          </a:p>
        </p:txBody>
      </p:sp>
      <p:sp>
        <p:nvSpPr>
          <p:cNvPr id="15" name="FRAME_AUX"/>
          <p:cNvSpPr/>
          <p:nvPr/>
        </p:nvSpPr>
        <p:spPr>
          <a:xfrm>
            <a:off x="758952" y="4251960"/>
            <a:ext cx="2103120" cy="841248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/>
            <a:r>
              <a:rPr sz="125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同块后续切片
LCM：两片、16区域
IF：邻近切片蛋白成像</a:t>
            </a:r>
          </a:p>
        </p:txBody>
      </p:sp>
      <p:sp>
        <p:nvSpPr>
          <p:cNvPr id="16" name="FRAME_LIMIT"/>
          <p:cNvSpPr txBox="1"/>
          <p:nvPr/>
        </p:nvSpPr>
        <p:spPr>
          <a:xfrm>
            <a:off x="786384" y="5358384"/>
            <a:ext cx="2048256" cy="457200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1150" b="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无干预或纵向时间点
区域/导管非患者重复</a:t>
            </a:r>
          </a:p>
        </p:txBody>
      </p:sp>
      <p:sp>
        <p:nvSpPr>
          <p:cNvPr id="17" name="FRAME_PERF"/>
          <p:cNvSpPr/>
          <p:nvPr/>
        </p:nvSpPr>
        <p:spPr>
          <a:xfrm>
            <a:off x="3337560" y="2011680"/>
            <a:ext cx="8037575" cy="804672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/>
            <a:r>
              <a:rPr sz="1400" b="1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三数据集比较RNA/基因/marker（Fig2）
SpatialQM及Atera内部下采样：检查QC、基因覆盖与检测深度（Supp Fig2/4）</a:t>
            </a:r>
          </a:p>
        </p:txBody>
      </p:sp>
      <p:sp>
        <p:nvSpPr>
          <p:cNvPr id="18" name="FRAME_CNV"/>
          <p:cNvSpPr/>
          <p:nvPr/>
        </p:nvSpPr>
        <p:spPr>
          <a:xfrm>
            <a:off x="3337560" y="3300984"/>
            <a:ext cx="3776472" cy="713232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/>
            <a:r>
              <a:rPr sz="1400" b="1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克隆轴（Fig3）
Atera推断CNV、分支树与空间克隆</a:t>
            </a:r>
          </a:p>
        </p:txBody>
      </p:sp>
      <p:sp>
        <p:nvSpPr>
          <p:cNvPr id="19" name="FRAME_IMMUNE"/>
          <p:cNvSpPr/>
          <p:nvPr/>
        </p:nvSpPr>
        <p:spPr>
          <a:xfrm>
            <a:off x="7525512" y="3300984"/>
            <a:ext cx="3849624" cy="713232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/>
            <a:r>
              <a:rPr sz="1400" b="1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免疫轴（Fig4）
Atera细分髓系/稀有群及5类niche</a:t>
            </a:r>
          </a:p>
        </p:txBody>
      </p:sp>
      <p:sp>
        <p:nvSpPr>
          <p:cNvPr id="20" name="FRAME_DNA"/>
          <p:cNvSpPr/>
          <p:nvPr/>
        </p:nvSpPr>
        <p:spPr>
          <a:xfrm>
            <a:off x="3337560" y="4416552"/>
            <a:ext cx="3776472" cy="676656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/>
            <a:r>
              <a:rPr sz="13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LCM-WGS核验A/C/D主要分支
16区域含2个正常参考，未对应B</a:t>
            </a:r>
          </a:p>
        </p:txBody>
      </p:sp>
      <p:sp>
        <p:nvSpPr>
          <p:cNvPr id="21" name="FRAME_PROTEIN"/>
          <p:cNvSpPr/>
          <p:nvPr/>
        </p:nvSpPr>
        <p:spPr>
          <a:xfrm>
            <a:off x="7525512" y="4416552"/>
            <a:ext cx="3849624" cy="676656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/>
            <a:r>
              <a:rPr sz="13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Orion多重IF核验身份与共定位
pDC、TCF7+CD4T、成熟DC等</a:t>
            </a:r>
          </a:p>
        </p:txBody>
      </p:sp>
      <p:cxnSp>
        <p:nvCxnSpPr>
          <p:cNvPr id="22" name="FRAME_TEST_PERF"/>
          <p:cNvCxnSpPr/>
          <p:nvPr/>
        </p:nvCxnSpPr>
        <p:spPr>
          <a:xfrm>
            <a:off x="2880360" y="2414016"/>
            <a:ext cx="402336" cy="0"/>
          </a:xfrm>
          <a:prstGeom prst="line">
            <a:avLst/>
          </a:prstGeom>
          <a:ln w="22860">
            <a:solidFill>
              <a:srgbClr val="1749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RAME_COMPARE_OTHER"/>
          <p:cNvCxnSpPr/>
          <p:nvPr/>
        </p:nvCxnSpPr>
        <p:spPr>
          <a:xfrm>
            <a:off x="2880360" y="3520440"/>
            <a:ext cx="182880" cy="0"/>
          </a:xfrm>
          <a:prstGeom prst="line">
            <a:avLst/>
          </a:prstGeom>
          <a:ln w="16510">
            <a:solidFill>
              <a:srgbClr val="D7E1F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RAME_OTHER_UP"/>
          <p:cNvCxnSpPr/>
          <p:nvPr/>
        </p:nvCxnSpPr>
        <p:spPr>
          <a:xfrm flipV="1">
            <a:off x="3063240" y="2670048"/>
            <a:ext cx="0" cy="850392"/>
          </a:xfrm>
          <a:prstGeom prst="line">
            <a:avLst/>
          </a:prstGeom>
          <a:ln w="16510">
            <a:solidFill>
              <a:srgbClr val="D7E1F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RAME_OTHER_TO_COMPARE"/>
          <p:cNvCxnSpPr/>
          <p:nvPr/>
        </p:nvCxnSpPr>
        <p:spPr>
          <a:xfrm>
            <a:off x="3063240" y="2670048"/>
            <a:ext cx="219456" cy="0"/>
          </a:xfrm>
          <a:prstGeom prst="line">
            <a:avLst/>
          </a:prstGeom>
          <a:ln w="16510">
            <a:solidFill>
              <a:srgbClr val="D7E1F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RAME_TEST_CNV"/>
          <p:cNvCxnSpPr/>
          <p:nvPr/>
        </p:nvCxnSpPr>
        <p:spPr>
          <a:xfrm>
            <a:off x="5230368" y="2843784"/>
            <a:ext cx="0" cy="411480"/>
          </a:xfrm>
          <a:prstGeom prst="line">
            <a:avLst/>
          </a:prstGeom>
          <a:ln w="22860">
            <a:solidFill>
              <a:srgbClr val="1749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AME_TEST_CNV_LABEL"/>
          <p:cNvSpPr txBox="1"/>
          <p:nvPr/>
        </p:nvSpPr>
        <p:spPr>
          <a:xfrm>
            <a:off x="4206240" y="2926080"/>
            <a:ext cx="914400" cy="182880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950" b="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cxnSp>
        <p:nvCxnSpPr>
          <p:cNvPr id="28" name="FRAME_TEST_IMMUNE"/>
          <p:cNvCxnSpPr/>
          <p:nvPr/>
        </p:nvCxnSpPr>
        <p:spPr>
          <a:xfrm>
            <a:off x="9454896" y="2843784"/>
            <a:ext cx="0" cy="411480"/>
          </a:xfrm>
          <a:prstGeom prst="line">
            <a:avLst/>
          </a:prstGeom>
          <a:ln w="22860">
            <a:solidFill>
              <a:srgbClr val="1749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AME_TEST_IMMUNE_LABEL"/>
          <p:cNvSpPr txBox="1"/>
          <p:nvPr/>
        </p:nvSpPr>
        <p:spPr>
          <a:xfrm>
            <a:off x="8430768" y="2926080"/>
            <a:ext cx="914400" cy="182880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950" b="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cxnSp>
        <p:nvCxnSpPr>
          <p:cNvPr id="30" name="FRAME_DNA_VALIDATES"/>
          <p:cNvCxnSpPr/>
          <p:nvPr/>
        </p:nvCxnSpPr>
        <p:spPr>
          <a:xfrm flipV="1">
            <a:off x="5230368" y="4050791"/>
            <a:ext cx="0" cy="338329"/>
          </a:xfrm>
          <a:prstGeom prst="line">
            <a:avLst/>
          </a:prstGeom>
          <a:ln w="22860">
            <a:solidFill>
              <a:srgbClr val="1749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AME_DNA_VALIDATES_LABEL"/>
          <p:cNvSpPr txBox="1"/>
          <p:nvPr/>
        </p:nvSpPr>
        <p:spPr>
          <a:xfrm>
            <a:off x="4206240" y="4078224"/>
            <a:ext cx="914400" cy="182880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950" b="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核验</a:t>
            </a:r>
          </a:p>
        </p:txBody>
      </p:sp>
      <p:cxnSp>
        <p:nvCxnSpPr>
          <p:cNvPr id="32" name="FRAME_PROTEIN_VALIDATES"/>
          <p:cNvCxnSpPr/>
          <p:nvPr/>
        </p:nvCxnSpPr>
        <p:spPr>
          <a:xfrm flipV="1">
            <a:off x="9454896" y="4050791"/>
            <a:ext cx="0" cy="338329"/>
          </a:xfrm>
          <a:prstGeom prst="line">
            <a:avLst/>
          </a:prstGeom>
          <a:ln w="22860">
            <a:solidFill>
              <a:srgbClr val="1749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AME_PROTEIN_VALIDATES_LABEL"/>
          <p:cNvSpPr txBox="1"/>
          <p:nvPr/>
        </p:nvSpPr>
        <p:spPr>
          <a:xfrm>
            <a:off x="8430768" y="4078224"/>
            <a:ext cx="914400" cy="182880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950" b="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核验</a:t>
            </a:r>
          </a:p>
        </p:txBody>
      </p:sp>
      <p:cxnSp>
        <p:nvCxnSpPr>
          <p:cNvPr id="34" name="FRAME_AUX_TO_DNA"/>
          <p:cNvCxnSpPr/>
          <p:nvPr/>
        </p:nvCxnSpPr>
        <p:spPr>
          <a:xfrm>
            <a:off x="2880360" y="4754880"/>
            <a:ext cx="402336" cy="0"/>
          </a:xfrm>
          <a:prstGeom prst="line">
            <a:avLst/>
          </a:prstGeom>
          <a:ln w="22860">
            <a:solidFill>
              <a:srgbClr val="1749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RAME_CNV_INTEGRATES"/>
          <p:cNvCxnSpPr/>
          <p:nvPr/>
        </p:nvCxnSpPr>
        <p:spPr>
          <a:xfrm>
            <a:off x="5230368" y="5120640"/>
            <a:ext cx="0" cy="320040"/>
          </a:xfrm>
          <a:prstGeom prst="line">
            <a:avLst/>
          </a:prstGeom>
          <a:ln w="22860">
            <a:solidFill>
              <a:srgbClr val="1749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RAME_IMMUNE_INTEGRATES"/>
          <p:cNvCxnSpPr/>
          <p:nvPr/>
        </p:nvCxnSpPr>
        <p:spPr>
          <a:xfrm>
            <a:off x="9454896" y="5120640"/>
            <a:ext cx="0" cy="320040"/>
          </a:xfrm>
          <a:prstGeom prst="line">
            <a:avLst/>
          </a:prstGeom>
          <a:ln w="22860">
            <a:solidFill>
              <a:srgbClr val="1749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AME_INTEGRATE"/>
          <p:cNvSpPr/>
          <p:nvPr/>
        </p:nvSpPr>
        <p:spPr>
          <a:xfrm>
            <a:off x="3337560" y="5477256"/>
            <a:ext cx="8037575" cy="612648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/>
            <a:r>
              <a:rPr sz="1350" b="1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Fig5：128导管、200 µm邻域，采用保留空间结构的置换检验
汇合发现：免疫niche、SPP1 TAM及增殖与克隆顺序存在空间关联</a:t>
            </a:r>
          </a:p>
        </p:txBody>
      </p:sp>
      <p:sp>
        <p:nvSpPr>
          <p:cNvPr id="38" name="FRAME_LEGEND"/>
          <p:cNvSpPr txBox="1"/>
          <p:nvPr/>
        </p:nvSpPr>
        <p:spPr>
          <a:xfrm>
            <a:off x="804672" y="6181344"/>
            <a:ext cx="10552176" cy="201168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950" b="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实线为原文证据关系（paper），虚线为汇报比较连接（presentation）；箭头不表示分子因果或真实时间。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1：同块切片连接空间RNA、DNA与蛋白证据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1a · PDF p.6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同一DCIS FFPE块：Atera与Xenium 280近邻切片，另取LCM-WGS和IF切片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H&amp;E确认病理，归一化、聚类与marker注释恢复主要细胞类群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癌细胞形成导管，周围为基质及免疫细胞，与组织学结构相符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建立共同组织基线，后续分别检验灵敏度、CNV和稀有状态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43651" y="1700784"/>
            <a:ext cx="5002801" cy="384048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56052" y="5596128"/>
            <a:ext cx="3350567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1：Xenium 5K提供独立样本的扩展比较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1b · p.6；Supp Fig 1a–c · pp.30–31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Xenium 5K使用另一患者，含5,000基因及100个custom基因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切片含DCIS及浸润癌
未见正常导管或小叶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Normal Luminal缺失源于取样组成，不能归为平台漏检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三数据集的差异需同时考虑患者、病理、切片与平台</a:t>
            </a:r>
          </a:p>
        </p:txBody>
      </p:sp>
      <p:sp>
        <p:nvSpPr>
          <p:cNvPr id="24" name="PFS_SUPP1_LABEL_0"/>
          <p:cNvSpPr txBox="1"/>
          <p:nvPr/>
        </p:nvSpPr>
        <p:spPr>
          <a:xfrm>
            <a:off x="822960" y="5358384"/>
            <a:ext cx="1920240" cy="201168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1000" b="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Xenium 280</a:t>
            </a:r>
          </a:p>
        </p:txBody>
      </p:sp>
      <p:sp>
        <p:nvSpPr>
          <p:cNvPr id="26" name="PFS_SUPP1_LABEL_1"/>
          <p:cNvSpPr txBox="1"/>
          <p:nvPr/>
        </p:nvSpPr>
        <p:spPr>
          <a:xfrm>
            <a:off x="2852928" y="5358384"/>
            <a:ext cx="1920240" cy="201168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1000" b="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Atera</a:t>
            </a:r>
          </a:p>
        </p:txBody>
      </p:sp>
      <p:sp>
        <p:nvSpPr>
          <p:cNvPr id="28" name="PFS_SUPP1_LABEL_2"/>
          <p:cNvSpPr txBox="1"/>
          <p:nvPr/>
        </p:nvSpPr>
        <p:spPr>
          <a:xfrm>
            <a:off x="4882896" y="5358384"/>
            <a:ext cx="1920240" cy="201168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1000" b="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Xenium 5K</a:t>
            </a:r>
          </a:p>
        </p:txBody>
      </p:sp>
      <p:sp>
        <p:nvSpPr>
          <p:cNvPr id="29" name="PFS_SUPP1_PATHOLOGY"/>
          <p:cNvSpPr txBox="1"/>
          <p:nvPr/>
        </p:nvSpPr>
        <p:spPr>
          <a:xfrm>
            <a:off x="960120" y="5641848"/>
            <a:ext cx="5577840" cy="237744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ctr"/>
            <a:r>
              <a:rPr sz="1000" b="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黑线：DCIS    黄线：正常乳腺    红线：浸润癌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7493" y="1737360"/>
            <a:ext cx="5675117" cy="1865376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986883"/>
            <a:ext cx="1920240" cy="1243385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52928" y="4073353"/>
            <a:ext cx="1920240" cy="1070444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82896" y="3989865"/>
            <a:ext cx="1920240" cy="1237421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2：Atera在本组数据中检出更多RNA和基因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2a–d · PDF p.9；Methods pp.22–23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比较三数据集每细胞转录本数、基因数与逐细胞计数分档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Atera总体检出最多，且各转录本计数档的基因数均更多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统一色标的空间计数图与总体计数分布一致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计数优势是否仍存在于各细胞大类，并改善注释marker？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532412"/>
            <a:ext cx="6117336" cy="2588704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2：计数优势跨细胞大类存在，组成仍相近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2e–g · PDF p.9；Methods p.23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按主要细胞类型比较RNA和基因检出
减少细胞组成差异的影响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Atera各大类均检出更多；280与5K的基因数排序随类群变化</a:t>
            </a:r>
          </a:p>
        </p:txBody>
      </p:sp>
      <p:cxnSp>
        <p:nvCxnSpPr>
          <p:cNvPr id="18" name="PFS_FIGURE_STORY_PARALLEL_2"/>
          <p:cNvCxnSpPr/>
          <p:nvPr/>
        </p:nvCxnSpPr>
        <p:spPr>
          <a:xfrm>
            <a:off x="8141817" y="3931920"/>
            <a:ext cx="2397557" cy="0"/>
          </a:xfrm>
          <a:prstGeom prst="line">
            <a:avLst/>
          </a:prstGeom>
          <a:ln w="21590">
            <a:solidFill>
              <a:srgbClr val="1749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同块Atera与280的大类比例相关：Spearman R=0.88，P=0.002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支持共同组织组成被恢复，尚不能代表逐细胞标签准确率</a:t>
            </a:r>
          </a:p>
        </p:txBody>
      </p:sp>
      <p:sp>
        <p:nvSpPr>
          <p:cNvPr id="23" name="PFS_FIG2_COLORLEGEND"/>
          <p:cNvSpPr txBox="1"/>
          <p:nvPr/>
        </p:nvSpPr>
        <p:spPr>
          <a:xfrm>
            <a:off x="4800600" y="1828800"/>
            <a:ext cx="1920240" cy="777240"/>
          </a:xfrm>
          <a:prstGeom prst="rect">
            <a:avLst/>
          </a:prstGeom>
          <a:noFill/>
        </p:spPr>
        <p:txBody>
          <a:bodyPr wrap="square" lIns="73152" rIns="73152" tIns="13716" bIns="13716" anchor="ctr">
            <a:spAutoFit/>
          </a:bodyPr>
          <a:lstStyle/>
          <a:p>
            <a:pPr algn="l"/>
            <a:r>
              <a:rPr sz="1000" b="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红：Xenium 280
绿：Atera
黄：Xenium 5K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52272" y="1700784"/>
            <a:ext cx="1967272" cy="42519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2：Atera的细胞类型marker信号更清晰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2h–i · PDF p.9；图注续p.10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分别选各平台每类细胞top 5差异marker，比较每细胞转录本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Atera的marker信号更强，细胞类型特异表达更清楚</a:t>
            </a:r>
          </a:p>
        </p:txBody>
      </p:sp>
      <p:cxnSp>
        <p:nvCxnSpPr>
          <p:cNvPr id="18" name="PFS_FIGURE_STORY_PARALLEL_2"/>
          <p:cNvCxnSpPr/>
          <p:nvPr/>
        </p:nvCxnSpPr>
        <p:spPr>
          <a:xfrm>
            <a:off x="8141817" y="3931920"/>
            <a:ext cx="2397557" cy="0"/>
          </a:xfrm>
          <a:prstGeom prst="line">
            <a:avLst/>
          </a:prstGeom>
          <a:ln w="21590">
            <a:solidFill>
              <a:srgbClr val="1749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280仍恢复主要类群，但marker信号总体居中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两平台top 5并非同一集合，需共同marker补充检验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75586" y="1700784"/>
            <a:ext cx="3320644" cy="42519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2：共同marker分析支持原有趋势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2j · p.9；Supp Fig 2a · p.31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5K的top 5 marker信号较弱，部分群体的状态识别受限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补图改用三平台共有marker，仍见Atera较强的检测信号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共同基因比较补充了平台各自top 5的选择差异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仍需质量指标及独立蛋白/DNA测量判定生物学可信度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83862" y="1700784"/>
            <a:ext cx="1590560" cy="42519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955" y="1700784"/>
            <a:ext cx="2445710" cy="42519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补图2：宽面板的QC指标需要结合定义解释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Supp Fig 2b–j · PDF p.31；Methods p.23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SpatialQM比较密度、动态范围、Moran’s I及分配与背景指标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Atera覆盖与空间信号更强；FTC为0.803，5K为0.893</a:t>
            </a:r>
          </a:p>
        </p:txBody>
      </p:sp>
      <p:cxnSp>
        <p:nvCxnSpPr>
          <p:cNvPr id="18" name="PFS_FIGURE_STORY_PARALLEL_2"/>
          <p:cNvCxnSpPr/>
          <p:nvPr/>
        </p:nvCxnSpPr>
        <p:spPr>
          <a:xfrm>
            <a:off x="8141817" y="3931920"/>
            <a:ext cx="2397557" cy="0"/>
          </a:xfrm>
          <a:prstGeom prst="line">
            <a:avLst/>
          </a:prstGeom>
          <a:ln w="21590">
            <a:solidFill>
              <a:srgbClr val="1749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SNR：280=2154、5K=688、Atera=644；宽面板低表达基因影响均值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负控FDR依次0.046%、0.145%、0.155%，不等同差异分析FDR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9700" y="1700784"/>
            <a:ext cx="2812415" cy="42519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补图3：更广的染色体覆盖提高CNV推断分辨率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Supp Fig 3a–c · PDF p.32；Results p.10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先检验表达测量在各染色体臂是否覆盖足够多基因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280、5K、Atera约覆盖编码基因1%、25%、90%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可解析窗口约22、280、1500；靶向面板仍可见部分大尺度事件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分辨率增加仍需DNA真值，不能由热图清晰度代替准确性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70500" y="1700784"/>
            <a:ext cx="3648519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7318" y="3520440"/>
            <a:ext cx="5214882" cy="237744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3：空间分离的表达状态具有不同CNV谱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3a–c · PDF p.13；Methods p.24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四种Luminal DCIS表达状态在组织中分区，提示可检验的克隆异质性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以正常/导管腔面细胞作参考，17,237基因按100基因窗口推断CNV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CNV谱分出A–D四克隆；C最大13,699细胞，B最少653细胞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表达状态与CNV克隆是两种分类，需进一步重建事件层级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1768354"/>
            <a:ext cx="3003804" cy="411682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35908" y="2754493"/>
            <a:ext cx="3003804" cy="2144542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3：CNV支持分支架构，11q增益位于内部支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3d–f · PDF p.13；Results p.11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最大简约树推断共同增益+1q、+12q、+17pq，A较早分支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11q增益由B/C/D支共享，随后C与D分开，不能画成A→B→C→D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11q13.3模块表达与推断拷贝数一致，克隆占据不同空间区域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这是静态CNV的演化模型，下一步用独立DNA测量核验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095" y="1737360"/>
            <a:ext cx="2554369" cy="214884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241574"/>
            <a:ext cx="2834640" cy="1209491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3013801"/>
            <a:ext cx="3154680" cy="1653356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3：16个LCM区域提供空间DNA核验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3g · PDF p.13；Methods pp.24–25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病理定位两张后续切片，LCM分离16区域，含2个近二倍体参考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WGS由CNVkit得到区域拷贝数，映射chr8缺失与chr12/17、11增益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地标事件的区域分布吻合RNA克隆，region 10缺11q增益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核验单位是空间区域，非相同细胞，也不是16名患者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090542"/>
            <a:ext cx="6117336" cy="1472444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3：WGS支持A/C/D主要克隆分支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3h–i · pp.13–14；Supp Fig 3e · p.32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16区域WGS恢复chr1/11/12/17增益和chr8缺失等事件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WGS投影到1,516窗口，以近二倍体1/2区定根构建邻接法树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DNA树分出Normal及A/C/D，与RNA主要架构相符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未对应稀有Clone B，不能宣称四克隆全部获独立DNA证实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4262"/>
            <a:ext cx="6117336" cy="2125004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补图3：Atera与WGS的臂级CNV相关更高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Supp Fig 3d · PDF p.32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以染色体臂为单位比较RNA推断CNV与同块WGS读数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Atera–WGS的Spearman ρ=0.75，280–WGS为−0.19</a:t>
            </a:r>
          </a:p>
        </p:txBody>
      </p:sp>
      <p:cxnSp>
        <p:nvCxnSpPr>
          <p:cNvPr id="18" name="PFS_FIGURE_STORY_PARALLEL_2"/>
          <p:cNvCxnSpPr/>
          <p:nvPr/>
        </p:nvCxnSpPr>
        <p:spPr>
          <a:xfrm>
            <a:off x="8141817" y="3931920"/>
            <a:ext cx="2397557" cy="0"/>
          </a:xfrm>
          <a:prstGeom prst="line">
            <a:avLst/>
          </a:prstGeom>
          <a:ln w="21590">
            <a:solidFill>
              <a:srgbClr val="1749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280–Atera为−0.21，提示有限覆盖的RNA推断需谨慎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0.75是臂级相关，不是75%准确率或逐细胞DNA一致率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006667"/>
            <a:ext cx="6117336" cy="1640194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4：Atera分辨更细的髓系及稀有状态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4a–c · PDF p.15；Results p.14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分别提取三平台髓系细胞，独立重新归一化、降维和聚类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Atera区分单核细胞、FOLR2/CXCL9/SPP1巨噬细胞及cDC1/2</a:t>
            </a:r>
          </a:p>
        </p:txBody>
      </p:sp>
      <p:cxnSp>
        <p:nvCxnSpPr>
          <p:cNvPr id="18" name="PFS_FIGURE_STORY_PARALLEL_2"/>
          <p:cNvCxnSpPr/>
          <p:nvPr/>
        </p:nvCxnSpPr>
        <p:spPr>
          <a:xfrm>
            <a:off x="8141817" y="3931920"/>
            <a:ext cx="2397557" cy="0"/>
          </a:xfrm>
          <a:prstGeom prst="line">
            <a:avLst/>
          </a:prstGeom>
          <a:ln w="21590">
            <a:solidFill>
              <a:srgbClr val="1749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本组数据中仅Atera分出mregDC与pDC稀有群体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UMAP分离还不等于身份真实，需marker与蛋白核验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808204"/>
            <a:ext cx="6117336" cy="203712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4：状态命名来自marker组合及检出比例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4d · PDF p.15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点图联合展示平均表达与表达细胞比例，核对髓系状态marker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Atera中的mregDC与pDC具有可辨认的多marker表达组合</a:t>
            </a:r>
          </a:p>
        </p:txBody>
      </p:sp>
      <p:cxnSp>
        <p:nvCxnSpPr>
          <p:cNvPr id="18" name="PFS_FIGURE_STORY_PARALLEL_2"/>
          <p:cNvCxnSpPr/>
          <p:nvPr/>
        </p:nvCxnSpPr>
        <p:spPr>
          <a:xfrm>
            <a:off x="8141817" y="3931920"/>
            <a:ext cx="2397557" cy="0"/>
          </a:xfrm>
          <a:prstGeom prst="line">
            <a:avLst/>
          </a:prstGeom>
          <a:ln w="21590">
            <a:solidFill>
              <a:srgbClr val="1749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5K部分状态marker掉失，280的有限覆盖降低可命名颗粒度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覆盖与深度各贡献多少？用Atera内部下采样拆分检验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522948"/>
            <a:ext cx="6117336" cy="2607631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补图4：检测深度明显影响髓系状态的可分性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Supp Fig 4a,c · PDF p.33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Atera内部保留5K/280基因集，或降低每细胞检测深度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5K基因集且全深度时，可分性大体保留；降深度时下降更明显</a:t>
            </a:r>
          </a:p>
        </p:txBody>
      </p:sp>
      <p:cxnSp>
        <p:nvCxnSpPr>
          <p:cNvPr id="18" name="PFS_FIGURE_STORY_PARALLEL_2"/>
          <p:cNvCxnSpPr/>
          <p:nvPr/>
        </p:nvCxnSpPr>
        <p:spPr>
          <a:xfrm>
            <a:off x="8141817" y="3931920"/>
            <a:ext cx="2397557" cy="0"/>
          </a:xfrm>
          <a:prstGeom prst="line">
            <a:avLst/>
          </a:prstGeom>
          <a:ln w="21590">
            <a:solidFill>
              <a:srgbClr val="1749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三平台聚类指标总体Atera较高，与状态细分结果相互支持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支持覆盖与深度共同限制分辨率，模拟不等同真实跨平台实验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635029"/>
            <a:ext cx="6117336" cy="2383469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4：免疫niche靠近肿瘤克隆区域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4e–g · PDF p.15；Methods p.26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以每细胞30近邻的组成聚为5种niche，再映射CNV克隆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Normal/A、B/C、D偏向不同上皮niche，另有免疫及基质niche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mregDC、pDC及TCF7+ CD4T
距肿瘤克隆比距正常腔面细胞更近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邻近关系提示空间组织，不能据此认定细胞通讯或功能作用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0576" y="1700784"/>
            <a:ext cx="3145830" cy="1508759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6351" y="3291840"/>
            <a:ext cx="2494280" cy="26517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47092" y="1700784"/>
            <a:ext cx="1855855" cy="42519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4：多重IF核验肿瘤旁免疫聚集结构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4h · PDF p.15；Methods pp.28–29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在同块邻近切片用Orion多重IF检测细胞蛋白身份与位置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TCF1/7+ CD4T与HLA-DR+ CCR7+成熟DC出现在肿瘤旁聚集区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CD20+ B细胞参与局部聚集，与RNA的免疫niche空间组织一致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蛋白共定位提供正交支持，尚未检验抗原呈递或功能性互作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1920703"/>
            <a:ext cx="6117336" cy="3812122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补图4：蛋白标志组合支持稀有pDC的存在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Supp Fig 4b · PDF p.33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针对Atera独有分出的pDC，在邻近切片检查蛋白marker组合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图示HLA-DR+、GZMB+且CD3e−细胞，符合作者pDC鉴定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该验证支持细胞确实存在，不能量化三平台的pDC检出准确率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克隆轴与免疫轴具备独立支持，可进一步量化两者空间关联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310652"/>
            <a:ext cx="6117336" cy="3032224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5：导管周免疫niche与克隆顺序存在关联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5a–e · p.17；图注p.18；Methods pp.26–28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40 µm单链接分割128导管，保留21,587细胞，并赋多数克隆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对肿瘤细胞200 µm内全部邻居计算免疫niche比例，再求导管均值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有序趋势JT z=7.43，torus-shift P=0.004；Clone B为例外</a:t>
            </a:r>
          </a:p>
        </p:txBody>
      </p:sp>
      <p:cxnSp>
        <p:nvCxnSpPr>
          <p:cNvPr id="20" name="PFS_FIGURE_STORY_PARALLEL_3"/>
          <p:cNvCxnSpPr/>
          <p:nvPr/>
        </p:nvCxnSpPr>
        <p:spPr>
          <a:xfrm>
            <a:off x="8141817" y="5081778"/>
            <a:ext cx="2397557" cy="0"/>
          </a:xfrm>
          <a:prstGeom prst="line">
            <a:avLst/>
          </a:prstGeom>
          <a:ln w="21590">
            <a:solidFill>
              <a:srgbClr val="1749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与组织x位置也相关：ρ=0.67，P=0.004，提示空间混杂需保留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1825756"/>
            <a:ext cx="6080760" cy="1286247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2649" y="3337560"/>
            <a:ext cx="5395661" cy="256032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5：Clone D附近SPP1 TAM与增殖肿瘤更多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5f–i · pp.17–18；Methods p.28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空间图显示SPP1 TAM与D共富集，h/i进一步计算200 µm邻域比例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SPP1 TAM：A为0.53%，D为1.70%
总体JT趋势、torus P=0.004</a:t>
            </a:r>
          </a:p>
        </p:txBody>
      </p:sp>
      <p:cxnSp>
        <p:nvCxnSpPr>
          <p:cNvPr id="18" name="PFS_FIGURE_STORY_PARALLEL_2"/>
          <p:cNvCxnSpPr/>
          <p:nvPr/>
        </p:nvCxnSpPr>
        <p:spPr>
          <a:xfrm>
            <a:off x="8141817" y="3931920"/>
            <a:ext cx="2397557" cy="0"/>
          </a:xfrm>
          <a:prstGeom prst="line">
            <a:avLst/>
          </a:prstGeom>
          <a:ln w="21590">
            <a:solidFill>
              <a:srgbClr val="1749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增殖肿瘤：A为0.67%，D为12.94%
总体JT趋势、torus P≤0.001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各克隆并非严格单调，空间共富集仍需蛋白层面核验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5878" y="1737360"/>
            <a:ext cx="2786627" cy="192024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7673" y="3703320"/>
            <a:ext cx="3423036" cy="21945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63817" y="1719072"/>
            <a:ext cx="2021237" cy="42519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5：IF支持SPP1巨噬细胞与增殖肿瘤共定位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5j · PDF p.17；图注p.18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相邻切片联合检测IBA1、SPP1、PanCK、Ki67及DAPI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Clone D上皮内同时见IBA1+ SPP1+与PanCK+ Ki67+细胞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蛋白证据支持RNA所见的巨噬细胞与增殖肿瘤空间共富集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尚无SPP1阻断、细胞去除或救援实验，不能判定促增殖因果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97642" y="1700784"/>
            <a:ext cx="2876531" cy="42519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逐图证据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Fig 5：WGS对应区域的蛋白计数强化空间关联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r>
              <a:rPr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Wu et al.  bioRxiv 2026  ·  预印本  ·  doi:10.64898/2026.08.03.741871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0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Fig 5k–n · pp.17–18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FS_FIGURE_STORY_STEP_1"/>
          <p:cNvSpPr txBox="1"/>
          <p:nvPr/>
        </p:nvSpPr>
        <p:spPr>
          <a:xfrm>
            <a:off x="7342631" y="1755648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以16个WGS对应区域比较SPP1+巨噬细胞与Ki67+肿瘤丰度</a:t>
            </a:r>
          </a:p>
        </p:txBody>
      </p:sp>
      <p:sp>
        <p:nvSpPr>
          <p:cNvPr id="16" name="PFS_FIGURE_STORY_ARROW_1"/>
          <p:cNvSpPr/>
          <p:nvPr/>
        </p:nvSpPr>
        <p:spPr>
          <a:xfrm>
            <a:off x="9220718" y="2708910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FS_FIGURE_STORY_STEP_2"/>
          <p:cNvSpPr txBox="1"/>
          <p:nvPr/>
        </p:nvSpPr>
        <p:spPr>
          <a:xfrm>
            <a:off x="7342631" y="2905506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Normal、A、C、D的区域计数显示两类细胞在D最丰富</a:t>
            </a:r>
          </a:p>
        </p:txBody>
      </p:sp>
      <p:sp>
        <p:nvSpPr>
          <p:cNvPr id="18" name="PFS_FIGURE_STORY_ARROW_2"/>
          <p:cNvSpPr/>
          <p:nvPr/>
        </p:nvSpPr>
        <p:spPr>
          <a:xfrm>
            <a:off x="9220718" y="3858768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FS_FIGURE_STORY_STEP_3"/>
          <p:cNvSpPr txBox="1"/>
          <p:nvPr/>
        </p:nvSpPr>
        <p:spPr>
          <a:xfrm>
            <a:off x="7342631" y="4055364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DNA克隆定位与蛋白表型结合，为RNA空间结果提供独立支持</a:t>
            </a:r>
          </a:p>
        </p:txBody>
      </p:sp>
      <p:sp>
        <p:nvSpPr>
          <p:cNvPr id="20" name="PFS_FIGURE_STORY_ARROW_3"/>
          <p:cNvSpPr/>
          <p:nvPr/>
        </p:nvSpPr>
        <p:spPr>
          <a:xfrm>
            <a:off x="9220718" y="5008626"/>
            <a:ext cx="239755" cy="187452"/>
          </a:xfrm>
          <a:prstGeom prst="downArrow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FS_FIGURE_STORY_STEP_4"/>
          <p:cNvSpPr txBox="1"/>
          <p:nvPr/>
        </p:nvSpPr>
        <p:spPr>
          <a:xfrm>
            <a:off x="7342631" y="5205222"/>
            <a:ext cx="3995927" cy="930402"/>
          </a:xfrm>
          <a:prstGeom prst="rect">
            <a:avLst/>
          </a:prstGeom>
          <a:noFill/>
        </p:spPr>
        <p:txBody>
          <a:bodyPr wrap="square" lIns="32004" rIns="32004" tIns="10972" bIns="1097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区域计数不同于RNA邻域百分比；此验证未包含Clone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75969" y="1700784"/>
            <a:ext cx="4519878" cy="4251960"/>
          </a:xfrm>
          <a:prstGeom prst="roundRect">
            <a:avLst/>
          </a:prstGeom>
          <a:solidFill>
            <a:srgbClr val="F6F9FD"/>
          </a:solidFill>
          <a:ln>
            <a:solidFill>
              <a:srgbClr val="BE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74994"/>
                </a:solidFill>
              </a:rPr>
              <a:t>论文 Figure 已从公开演示版移除
科研推理文字链仍可编辑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conclusio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总结与技术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主要发现与研究贡献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来源：Fig2–5；Discussion pp.19–20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0" name="DECOR_conclusion_bg"/>
          <p:cNvSpPr/>
          <p:nvPr/>
        </p:nvSpPr>
        <p:spPr>
          <a:xfrm>
            <a:off x="685800" y="1627632"/>
            <a:ext cx="6903720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ECOR_conclusion_right"/>
          <p:cNvSpPr/>
          <p:nvPr/>
        </p:nvSpPr>
        <p:spPr>
          <a:xfrm>
            <a:off x="7818120" y="1627632"/>
            <a:ext cx="3657600" cy="452628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ECOR_findings"/>
          <p:cNvSpPr txBox="1"/>
          <p:nvPr/>
        </p:nvSpPr>
        <p:spPr>
          <a:xfrm>
            <a:off x="969264" y="1929384"/>
            <a:ext cx="6309360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5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论文支持的主要发现</a:t>
            </a:r>
          </a:p>
        </p:txBody>
      </p:sp>
      <p:sp>
        <p:nvSpPr>
          <p:cNvPr id="13" name="PFS_POINTS"/>
          <p:cNvSpPr txBox="1"/>
          <p:nvPr/>
        </p:nvSpPr>
        <p:spPr>
          <a:xfrm>
            <a:off x="978408" y="2514600"/>
            <a:ext cx="6153912" cy="324612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更广覆盖与较高深度支持本例的细粒度免疫注释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RNA推断四个CNV克隆，WGS支持A/C/D主要架构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稀有免疫群及肿瘤旁聚集结构获得蛋白成像支持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免疫niche、SPP1 TAM及增殖与克隆顺序空间相关</a:t>
            </a:r>
          </a:p>
        </p:txBody>
      </p:sp>
      <p:sp>
        <p:nvSpPr>
          <p:cNvPr id="14" name="DECOR_limit_label"/>
          <p:cNvSpPr txBox="1"/>
          <p:nvPr/>
        </p:nvSpPr>
        <p:spPr>
          <a:xfrm>
            <a:off x="8110727" y="1929384"/>
            <a:ext cx="2926080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5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证据边界与局限</a:t>
            </a:r>
          </a:p>
        </p:txBody>
      </p:sp>
      <p:sp>
        <p:nvSpPr>
          <p:cNvPr id="15" name="PFS_LIMITATION"/>
          <p:cNvSpPr txBox="1"/>
          <p:nvPr/>
        </p:nvSpPr>
        <p:spPr>
          <a:xfrm>
            <a:off x="8110727" y="2459736"/>
            <a:ext cx="3017520" cy="297180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这是经多模态核验的研究框架示例。
尚无直接功能干预，不能建立免疫驱动克隆或促增殖的机制。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conclusio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总结与技术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结论边界与仍待解决的问题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来源：Discussion pp.19–20；Methods pp.24–28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10" name="DECOR_conclusion_bg"/>
          <p:cNvSpPr/>
          <p:nvPr/>
        </p:nvSpPr>
        <p:spPr>
          <a:xfrm>
            <a:off x="685800" y="1627632"/>
            <a:ext cx="6903720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ECOR_conclusion_right"/>
          <p:cNvSpPr/>
          <p:nvPr/>
        </p:nvSpPr>
        <p:spPr>
          <a:xfrm>
            <a:off x="7818120" y="1627632"/>
            <a:ext cx="3657600" cy="452628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ECOR_findings"/>
          <p:cNvSpPr txBox="1"/>
          <p:nvPr/>
        </p:nvSpPr>
        <p:spPr>
          <a:xfrm>
            <a:off x="969264" y="1929384"/>
            <a:ext cx="6309360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5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论文支持的主要发现</a:t>
            </a:r>
          </a:p>
        </p:txBody>
      </p:sp>
      <p:sp>
        <p:nvSpPr>
          <p:cNvPr id="13" name="PFS_POINTS"/>
          <p:cNvSpPr txBox="1"/>
          <p:nvPr/>
        </p:nvSpPr>
        <p:spPr>
          <a:xfrm>
            <a:off x="978408" y="2514600"/>
            <a:ext cx="6153912" cy="324612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Atera主分析仅1例DCIS，尚需多病例检验可重复性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5K来自另一患者，平台比较混杂组织与病理差异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CNV树为横断面分支模型，A–D不是实测时间链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相邻切片核验主要结构，未逐细胞验证或核验B</a:t>
            </a:r>
          </a:p>
        </p:txBody>
      </p:sp>
      <p:sp>
        <p:nvSpPr>
          <p:cNvPr id="14" name="DECOR_limit_label"/>
          <p:cNvSpPr txBox="1"/>
          <p:nvPr/>
        </p:nvSpPr>
        <p:spPr>
          <a:xfrm>
            <a:off x="8110727" y="1929384"/>
            <a:ext cx="2926080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5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证据边界与局限</a:t>
            </a:r>
          </a:p>
        </p:txBody>
      </p:sp>
      <p:sp>
        <p:nvSpPr>
          <p:cNvPr id="15" name="PFS_LIMITATION"/>
          <p:cNvSpPr txBox="1"/>
          <p:nvPr/>
        </p:nvSpPr>
        <p:spPr>
          <a:xfrm>
            <a:off x="8110727" y="2459736"/>
            <a:ext cx="3017520" cy="297180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后续问题：
多病例中是否存在相同空间关联？
纵向或功能研究能否判定免疫与克隆变化的方向？
这些是待研究问题，并非本文已完成实验。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technolog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r>
              <a:rPr sz="1000" b="1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中文文献精读  总结与技术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6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核心技术分别提供什么证据？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900">
                <a:solidFill>
                  <a:srgbClr val="40536B"/>
                </a:solidFill>
                <a:latin typeface="Microsoft YaHei"/>
                <a:ea typeface="Microsoft YaHei"/>
                <a:cs typeface="Microsoft YaHei"/>
              </a:rPr>
              <a:t>来源：Methods pp.22–29；Supp Fig2–4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0" name="DECOR_bodybg"/>
          <p:cNvSpPr/>
          <p:nvPr/>
        </p:nvSpPr>
        <p:spPr>
          <a:xfrm>
            <a:off x="694944" y="1645920"/>
            <a:ext cx="10762488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FS_LEAD"/>
          <p:cNvSpPr txBox="1"/>
          <p:nvPr/>
        </p:nvSpPr>
        <p:spPr>
          <a:xfrm>
            <a:off x="960120" y="1828800"/>
            <a:ext cx="10012680" cy="53035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900">
                <a:solidFill>
                  <a:srgbClr val="174994"/>
                </a:solidFill>
                <a:latin typeface="Microsoft YaHei"/>
                <a:ea typeface="Microsoft YaHei"/>
                <a:cs typeface="Microsoft YaHei"/>
              </a:rPr>
              <a:t>以互补读数提高可信度，避免同一RNA数据内部自证</a:t>
            </a:r>
          </a:p>
        </p:txBody>
      </p:sp>
      <p:sp>
        <p:nvSpPr>
          <p:cNvPr id="12" name="PFS_POINTS"/>
          <p:cNvSpPr txBox="1"/>
          <p:nvPr/>
        </p:nvSpPr>
        <p:spPr>
          <a:xfrm>
            <a:off x="987552" y="2578608"/>
            <a:ext cx="9857232" cy="306324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Atera WTA：同一细胞位置上的广谱表达，连接状态注释与RNA-CNV推断。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LCM-WGS：空间区域的直接DNA拷贝数，核验RNA推断的主要克隆结构。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Orion多重IF：蛋白身份与局部组织位置，核验稀有群体及共定位。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1800">
                <a:solidFill>
                  <a:srgbClr val="17345E"/>
                </a:solidFill>
                <a:latin typeface="Microsoft YaHei"/>
                <a:ea typeface="Microsoft YaHei"/>
                <a:cs typeface="Microsoft YaHei"/>
              </a:rPr>
              <a:t>•  下采样、SpatialQM与torus-shift：分别检查技术限制、QC及空间自相关。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